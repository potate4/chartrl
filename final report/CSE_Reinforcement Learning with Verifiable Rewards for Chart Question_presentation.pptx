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Times New Roman Bold" charset="1" panose="02020803070505020304"/>
      <p:regular r:id="rId31"/>
    </p:embeddedFont>
    <p:embeddedFont>
      <p:font typeface="Times New Roman" charset="1" panose="02020603050405020304"/>
      <p:regular r:id="rId32"/>
    </p:embeddedFont>
    <p:embeddedFont>
      <p:font typeface="Times New Roman Italics" charset="1" panose="02020503050405090304"/>
      <p:regular r:id="rId33"/>
    </p:embeddedFont>
    <p:embeddedFont>
      <p:font typeface="Times New Roman Bold Italics" charset="1" panose="02020703060505090304"/>
      <p:regular r:id="rId34"/>
    </p:embeddedFont>
    <p:embeddedFont>
      <p:font typeface="Source Sans 3 Bold" charset="1" panose="020B0303030403020204"/>
      <p:regular r:id="rId38"/>
    </p:embeddedFont>
    <p:embeddedFont>
      <p:font typeface="Source Sans 3" charset="1" panose="020B0303030403020204"/>
      <p:regular r:id="rId39"/>
    </p:embeddedFont>
    <p:embeddedFont>
      <p:font typeface="Courier New Bold" charset="1" panose="020706090202050204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2.xml" Type="http://schemas.openxmlformats.org/officeDocument/2006/relationships/notesSlide"/><Relationship Id="rId41" Target="notesSlides/notesSlide3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4.xml" Type="http://schemas.openxmlformats.org/officeDocument/2006/relationships/notesSlide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pipeline diagram of our training methodology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first thing that jumps out is accuracy. The base model, with no training at all, gets 51.8%. GRPO pushes that to 63%. GRPO-HCPC lands at 62.2% — nearly identical to GRPO. Replacing the process reward with a fundamentally different group-level objective costs us less than one percentage point of accuracy.</a:t>
            </a:r>
          </a:p>
          <a:p>
            <a:r>
              <a:rPr lang="en-US"/>
              <a:t/>
            </a:r>
          </a:p>
          <a:p>
            <a:r>
              <a:rPr lang="en-US"/>
              <a:t>But the more interesting story is in pass at k. Pass at k asks: if you sample k responses, what is the probability that at least one of K rollouts provide the correct answer? At k equals four, GRPO scores 80.3%. GRPO-HCPC scores 82.8%. it says the model's candidate set is more reliably correct.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arxiv.org/search/cs?searchtype=author&amp;query=Koksal,+A" TargetMode="External" Type="http://schemas.openxmlformats.org/officeDocument/2006/relationships/hyperlink"/><Relationship Id="rId4" Target="https://arxiv.org/search/cs?searchtype=author&amp;query=Alatan,+A+A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5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6834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53316" y="331494"/>
            <a:ext cx="1677084" cy="2102152"/>
          </a:xfrm>
          <a:custGeom>
            <a:avLst/>
            <a:gdLst/>
            <a:ahLst/>
            <a:cxnLst/>
            <a:rect r="r" b="b" t="t" l="l"/>
            <a:pathLst>
              <a:path h="2102152" w="1677084">
                <a:moveTo>
                  <a:pt x="0" y="0"/>
                </a:moveTo>
                <a:lnTo>
                  <a:pt x="1677084" y="0"/>
                </a:lnTo>
                <a:lnTo>
                  <a:pt x="1677084" y="2102151"/>
                </a:lnTo>
                <a:lnTo>
                  <a:pt x="0" y="2102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70330" y="331494"/>
            <a:ext cx="2188512" cy="1835526"/>
          </a:xfrm>
          <a:custGeom>
            <a:avLst/>
            <a:gdLst/>
            <a:ahLst/>
            <a:cxnLst/>
            <a:rect r="r" b="b" t="t" l="l"/>
            <a:pathLst>
              <a:path h="1835526" w="2188512">
                <a:moveTo>
                  <a:pt x="0" y="0"/>
                </a:moveTo>
                <a:lnTo>
                  <a:pt x="2188511" y="0"/>
                </a:lnTo>
                <a:lnTo>
                  <a:pt x="2188511" y="1835526"/>
                </a:lnTo>
                <a:lnTo>
                  <a:pt x="0" y="1835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324409" y="1277795"/>
            <a:ext cx="18288000" cy="155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4159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Reinforcement Learning with Verifiable Rewards for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4159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Chart Question Answering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97071" y="4295316"/>
            <a:ext cx="6597491" cy="17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F35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Sumaiya Ahmed - 210041223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F35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Nafisa Haque - 210041231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F35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Jannatul Fardus Rakhi - 210041237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72954" y="4151724"/>
            <a:ext cx="8315046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2F35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Supervised by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Syed Rifat Raiyan, Lecturer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Hasan Mahmud, Professor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Md. Kamrul Hasan, Professor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895796" y="7433264"/>
            <a:ext cx="649640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 and Software Lab (SSL)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Computer Science &amp; Engineering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Islamic University of Technology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6834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16941" y="215277"/>
            <a:ext cx="6480539" cy="9471557"/>
          </a:xfrm>
          <a:custGeom>
            <a:avLst/>
            <a:gdLst/>
            <a:ahLst/>
            <a:cxnLst/>
            <a:rect r="r" b="b" t="t" l="l"/>
            <a:pathLst>
              <a:path h="9471557" w="6480539">
                <a:moveTo>
                  <a:pt x="0" y="0"/>
                </a:moveTo>
                <a:lnTo>
                  <a:pt x="6480539" y="0"/>
                </a:lnTo>
                <a:lnTo>
                  <a:pt x="6480539" y="9471557"/>
                </a:lnTo>
                <a:lnTo>
                  <a:pt x="0" y="9471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36586"/>
            <a:ext cx="17446183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E74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347691"/>
            <a:ext cx="511052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chart understanding task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89646"/>
            <a:ext cx="851902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questions directly from chart images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4844" y="6151696"/>
            <a:ext cx="5739170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AutoNum type="arabicPeriod" startAt="1"/>
            </a:pPr>
            <a:r>
              <a:rPr lang="en-US" sz="2899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manual data annotation needed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4844" y="6666105"/>
            <a:ext cx="600694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AutoNum type="arabicPeriod" startAt="1"/>
            </a:pPr>
            <a:r>
              <a:rPr lang="en-US" sz="2899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across chart types &amp; domains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49362"/>
            <a:ext cx="1744618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055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Chart Question Answering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001706"/>
            <a:ext cx="7761672" cy="169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F35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 question answering (Chart QA) is the task of answering natural language questions about information encoded in chart images.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0199"/>
            <a:ext cx="17446183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E74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52780" y="1597285"/>
            <a:ext cx="12686109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prevent reasoning collapse and improve generalization to out-of-distribution charts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52780" y="2356712"/>
            <a:ext cx="13091262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eliminate hallucinated reasoning by grounding every inference step in chart-extracted values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52780" y="3635602"/>
            <a:ext cx="13091262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 hierarchical reward that enforces extraction consistency while encouraging reasoning diversity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2780" y="4863148"/>
            <a:ext cx="14053545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investigate how policy update strategies  like GRPO, NSR, and W-REINFORCE  affect reasoning diversity in chart-trained VLMs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2780" y="6208713"/>
            <a:ext cx="13653334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in-domain accuracy and out-of-distribution generalization under the proposed framework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52780" y="7487603"/>
            <a:ext cx="14750347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the proposed framework against existing chart reasoning baselines on standard benchmarks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71284" y="1762265"/>
            <a:ext cx="263130" cy="263130"/>
            <a:chOff x="0" y="0"/>
            <a:chExt cx="558781" cy="5587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1284" y="2539745"/>
            <a:ext cx="263130" cy="263130"/>
            <a:chOff x="0" y="0"/>
            <a:chExt cx="558781" cy="5587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1284" y="3800582"/>
            <a:ext cx="263130" cy="263130"/>
            <a:chOff x="0" y="0"/>
            <a:chExt cx="558781" cy="5587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1284" y="5061418"/>
            <a:ext cx="263130" cy="263130"/>
            <a:chOff x="0" y="0"/>
            <a:chExt cx="558781" cy="5587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71284" y="6373693"/>
            <a:ext cx="263130" cy="263130"/>
            <a:chOff x="0" y="0"/>
            <a:chExt cx="558781" cy="5587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71284" y="7636948"/>
            <a:ext cx="263130" cy="263130"/>
            <a:chOff x="0" y="0"/>
            <a:chExt cx="558781" cy="5587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817" y="330199"/>
            <a:ext cx="17446183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E74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97071" y="2510269"/>
            <a:ext cx="14253354" cy="290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 a reinforcement learning framework that learns to map a chart image and a natural language question to a faithful reasoning chain and a correct answer , rewarding only responses where every reasoning step is grounded in values extracted from the chart, while eliminating hallucination and ensuring robustness to out-of-distribution charts.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7071" y="5875664"/>
            <a:ext cx="13933928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Formally, given a chart image I and a question Q, we learn a mapping M(I, Q) → (R, A), where R = {r₁, ..., rₜ} is the reasoning chain and A is the final answer, such that A is correct with respect to I and every rᵢ ∈ R is grounded in values extracted from 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817" y="386714"/>
            <a:ext cx="17446183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E74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1390" y="1469442"/>
            <a:ext cx="13802445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Reinforcement learning optimizes a policy by maximizing cumulative rewards through trial and error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1390" y="2655234"/>
            <a:ext cx="13802445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Rollouts are responses sampled from the model, evaluated and used to compute advantage how much better a response is relative to others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1390" y="3841026"/>
            <a:ext cx="13802445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RLVR restricts rewards to verifiable, ground-truth correct answers no soft or approximate scoring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1390" y="4953317"/>
            <a:ext cx="13802445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GRPO updates the policy by strongly reinforcing above-average rollouts and penalizing below-average 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1390" y="6070282"/>
            <a:ext cx="13802445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NSR preserves diversity by skipping correct samples entirely and only penalizing wrong 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1390" y="7182574"/>
            <a:ext cx="13802445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W-REINFORCE balances accuracy and diversity ,weak positive reinforcement for correct, strong penalty for wrong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71284" y="1650828"/>
            <a:ext cx="263130" cy="263130"/>
            <a:chOff x="0" y="0"/>
            <a:chExt cx="558781" cy="5587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1284" y="2831413"/>
            <a:ext cx="263130" cy="263130"/>
            <a:chOff x="0" y="0"/>
            <a:chExt cx="558781" cy="5587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1284" y="4008943"/>
            <a:ext cx="263130" cy="263130"/>
            <a:chOff x="0" y="0"/>
            <a:chExt cx="558781" cy="5587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1284" y="5143500"/>
            <a:ext cx="263130" cy="263130"/>
            <a:chOff x="0" y="0"/>
            <a:chExt cx="558781" cy="5587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71284" y="6248523"/>
            <a:ext cx="263130" cy="263130"/>
            <a:chOff x="0" y="0"/>
            <a:chExt cx="558781" cy="5587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71284" y="7349854"/>
            <a:ext cx="263130" cy="263130"/>
            <a:chOff x="0" y="0"/>
            <a:chExt cx="558781" cy="5587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8781" cy="558781"/>
            </a:xfrm>
            <a:custGeom>
              <a:avLst/>
              <a:gdLst/>
              <a:ahLst/>
              <a:cxnLst/>
              <a:rect r="r" b="b" t="t" l="l"/>
              <a:pathLst>
                <a:path h="558781" w="558781">
                  <a:moveTo>
                    <a:pt x="0" y="0"/>
                  </a:moveTo>
                  <a:lnTo>
                    <a:pt x="558781" y="0"/>
                  </a:lnTo>
                  <a:lnTo>
                    <a:pt x="558781" y="558781"/>
                  </a:lnTo>
                  <a:lnTo>
                    <a:pt x="0" y="558781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58781" cy="61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43" y="816610"/>
            <a:ext cx="16684057" cy="9298758"/>
          </a:xfrm>
          <a:custGeom>
            <a:avLst/>
            <a:gdLst/>
            <a:ahLst/>
            <a:cxnLst/>
            <a:rect r="r" b="b" t="t" l="l"/>
            <a:pathLst>
              <a:path h="9298758" w="16684057">
                <a:moveTo>
                  <a:pt x="0" y="0"/>
                </a:moveTo>
                <a:lnTo>
                  <a:pt x="16684057" y="0"/>
                </a:lnTo>
                <a:lnTo>
                  <a:pt x="16684057" y="9298758"/>
                </a:lnTo>
                <a:lnTo>
                  <a:pt x="0" y="9298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6" r="0" b="-6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9337" y="118109"/>
            <a:ext cx="401069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4E74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337" y="118109"/>
            <a:ext cx="401069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9337" y="730885"/>
            <a:ext cx="668583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055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Benchmarks, SFT &amp; Agentic Approaches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2718" y="1619250"/>
            <a:ext cx="6843117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Chart Benchmarks [14, 15, 22, 13]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4935" y="2169735"/>
            <a:ext cx="6368796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Curated QA pairs over diverse chart types with structured annotations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split into perception (reading) and reasoning (inference) tasks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114797"/>
            <a:ext cx="7873230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Chart-Specific SFT [11, 7, 12]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9882" y="7710427"/>
            <a:ext cx="7242048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 instruction datasets used to fine-tune VLMs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Grounding and attention mechanisms injected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6070" y="1574105"/>
            <a:ext cx="5719882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Multi-Agent Systems [8, 9, 34, 23]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5867" y="4804349"/>
            <a:ext cx="7873230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 Integration [33, 28]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1404" y="5399979"/>
            <a:ext cx="7242048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solvers and retrievers called to ground numeric and factual answers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Programmatic reasoning separates chart reading from logical inference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380170"/>
            <a:ext cx="7873230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 Metrics [14, 13]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9882" y="4875787"/>
            <a:ext cx="7242048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Relaxed correctness tolerates numeric near-matches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scoring for visual grounding vs. logical inference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0513" y="2169735"/>
            <a:ext cx="7338787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Queries decomposed across specialised planner, extractor, and reasoner agents</a:t>
            </a: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coordination scaled dynamically with test-time compute allocation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337" y="-22226"/>
            <a:ext cx="401069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9337" y="590550"/>
            <a:ext cx="666416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055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RL for Reasoning &amp; Structured Methods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3272" y="1498699"/>
            <a:ext cx="7057549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4E74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Training-Time RLVR</a:t>
            </a: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800">
                <a:solidFill>
                  <a:srgbClr val="41594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[1,5, 6, 3, 26, 20, 16]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803" y="2049184"/>
            <a:ext cx="7750197" cy="229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378" indent="-282189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Rule-based verifiable rewards replace labelled data, enabling reward-driven optimisation</a:t>
            </a:r>
          </a:p>
          <a:p>
            <a:pPr algn="l" marL="564378" indent="-282189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GRPO trains chain-of-thought reasoning directly without supervised fine-tuning</a:t>
            </a:r>
          </a:p>
          <a:p>
            <a:pPr algn="l">
              <a:lnSpc>
                <a:spcPts val="36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1498699"/>
            <a:ext cx="7873230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Test-Time RL (TTRL) [4, 29, 30, 19, 31]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6217" y="2141954"/>
            <a:ext cx="7242048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weights or prompts updated at inference using self-generated reward signals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Entropy control balances exploration and exploitation during test-time updates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83272" y="7049135"/>
            <a:ext cx="5423892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Domain-Specific RL [21, 27, 32]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7559" y="7599620"/>
            <a:ext cx="684726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Verifiable reward frameworks transferred to remote sensing, UI navigation, and long-horizon tasks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702224"/>
            <a:ext cx="8901930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Chain-of-Thought &amp; Structured Reasoning [17, 25, 24]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5182" y="5803840"/>
            <a:ext cx="7242048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Sub-step verification and formal symbolic languages enforce interpretable reasoning chains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RL-generated traces consistently outperform supervised CoT on complex tasks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83272" y="4490699"/>
            <a:ext cx="4732258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 Metrics [14, 13]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2447" y="5076825"/>
            <a:ext cx="7708511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Relaxed correctness tolerates numeric near-matches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scoring for visual grounding vs. logical inference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337" y="36137"/>
            <a:ext cx="4255937" cy="74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0909" y="704850"/>
            <a:ext cx="17446183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Reinforcement Learning with Verifiable Rewards Implicitly Incentivizes Correct Reasoning in Base LLMs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0909" y="1195183"/>
            <a:ext cx="17529326" cy="26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12"/>
              </a:lnSpc>
            </a:pPr>
            <a:r>
              <a:rPr lang="en-US" sz="2035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Xumeng Wen ,Zihan Liu ,Shun Zheng, Shengyu Ye, Zhirong Wu, Yang Wang, Zhijian Xu, Xiao Liang, Junjie Li , Ziming Miao, Jiang Bian, Mao Yang  </a:t>
            </a:r>
            <a:r>
              <a:rPr lang="en-US" b="true" sz="2035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ICLR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337" y="1607554"/>
            <a:ext cx="17236831" cy="139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Pass@K fails to capture true reasoning quality, as base models often guess correctly through flawed CoTs. This paper introduces CoT-Pass@K requiring both correct reasoning and answers proving RLVR genuinely improves reasoning, not just sampling efficiency.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9337" y="3140698"/>
            <a:ext cx="2430214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 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501" y="3729785"/>
            <a:ext cx="12120024" cy="306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3863" indent="-266932" lvl="1">
              <a:lnSpc>
                <a:spcPts val="3461"/>
              </a:lnSpc>
              <a:buFont typeface="Arial"/>
              <a:buChar char="•"/>
            </a:pPr>
            <a:r>
              <a:rPr lang="en-US" b="true" sz="24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Introduces CoT-Pass@K </a:t>
            </a: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rewards only correct reasoning + correct answer</a:t>
            </a:r>
          </a:p>
          <a:p>
            <a:pPr algn="just" marL="533863" indent="-266932" lvl="1">
              <a:lnSpc>
                <a:spcPts val="3461"/>
              </a:lnSpc>
              <a:buFont typeface="Arial"/>
              <a:buChar char="•"/>
            </a:pP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Proves RLVR improves CoT-Pass@K for all K</a:t>
            </a:r>
          </a:p>
          <a:p>
            <a:pPr algn="just" marL="533863" indent="-266932" lvl="1">
              <a:lnSpc>
                <a:spcPts val="3461"/>
              </a:lnSpc>
              <a:buFont typeface="Arial"/>
              <a:buChar char="•"/>
            </a:pP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reasoning emerges early in training</a:t>
            </a:r>
          </a:p>
          <a:p>
            <a:pPr algn="just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generalizes to unseen questions</a:t>
            </a:r>
          </a:p>
          <a:p>
            <a:pPr algn="just" marL="533863" indent="-266932" lvl="1">
              <a:lnSpc>
                <a:spcPts val="3461"/>
              </a:lnSpc>
              <a:buFont typeface="Arial"/>
              <a:buChar char="•"/>
            </a:pPr>
            <a:r>
              <a:rPr lang="en-US" b="true" sz="24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LLM-as-a-CoT-Judge</a:t>
            </a: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as scalable </a:t>
            </a:r>
          </a:p>
          <a:p>
            <a:pPr algn="just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CoT verifier</a:t>
            </a:r>
          </a:p>
          <a:p>
            <a:pPr algn="r">
              <a:lnSpc>
                <a:spcPts val="346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77501" y="6434265"/>
            <a:ext cx="2010066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Drawbacks: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501" y="6877495"/>
            <a:ext cx="6060012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Doesn't guarantee generalization across all scenarios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mainly on math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Pass@K degradation at large K reframed, not fixed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837772" y="4174534"/>
            <a:ext cx="11450228" cy="4463315"/>
          </a:xfrm>
          <a:custGeom>
            <a:avLst/>
            <a:gdLst/>
            <a:ahLst/>
            <a:cxnLst/>
            <a:rect r="r" b="b" t="t" l="l"/>
            <a:pathLst>
              <a:path h="4463315" w="11450228">
                <a:moveTo>
                  <a:pt x="0" y="0"/>
                </a:moveTo>
                <a:lnTo>
                  <a:pt x="11450228" y="0"/>
                </a:lnTo>
                <a:lnTo>
                  <a:pt x="11450228" y="4463315"/>
                </a:lnTo>
                <a:lnTo>
                  <a:pt x="0" y="4463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09" t="-12034" r="-1643" b="-323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838203" y="9372509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2059" y="2926040"/>
            <a:ext cx="11641894" cy="5810479"/>
          </a:xfrm>
          <a:custGeom>
            <a:avLst/>
            <a:gdLst/>
            <a:ahLst/>
            <a:cxnLst/>
            <a:rect r="r" b="b" t="t" l="l"/>
            <a:pathLst>
              <a:path h="5810479" w="11641894">
                <a:moveTo>
                  <a:pt x="0" y="0"/>
                </a:moveTo>
                <a:lnTo>
                  <a:pt x="11641894" y="0"/>
                </a:lnTo>
                <a:lnTo>
                  <a:pt x="11641894" y="5810479"/>
                </a:lnTo>
                <a:lnTo>
                  <a:pt x="0" y="581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33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909" y="-10716"/>
            <a:ext cx="4129307" cy="72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5"/>
              </a:lnSpc>
              <a:spcBef>
                <a:spcPct val="0"/>
              </a:spcBef>
            </a:pPr>
            <a:r>
              <a:rPr lang="en-US" b="true" sz="4118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5215" y="638951"/>
            <a:ext cx="17446183" cy="99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Few-Shot Vision-Language Reasoning for Satellite Imagery via Verifiable Rewards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20909" y="1227089"/>
            <a:ext cx="17529326" cy="26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12"/>
              </a:lnSpc>
            </a:pPr>
            <a:r>
              <a:rPr lang="en-US" sz="2035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  <a:hlinkClick r:id="rId3" tooltip="https://arxiv.org/search/cs?searchtype=author&amp;query=Koksal,+A"/>
              </a:rPr>
              <a:t>Aybora Koksal</a:t>
            </a:r>
            <a:r>
              <a:rPr lang="en-US" sz="2035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, </a:t>
            </a:r>
            <a:r>
              <a:rPr lang="en-US" sz="2035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  <a:hlinkClick r:id="rId4" tooltip="https://arxiv.org/search/cs?searchtype=author&amp;query=Alatan,+A+A"/>
              </a:rPr>
              <a:t>A. Aydin Alatan</a:t>
            </a:r>
            <a:r>
              <a:rPr lang="en-US" sz="20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true" sz="2035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ICCV 2025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4929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0909" y="1727934"/>
            <a:ext cx="17236831" cy="13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Introduces the first few-shot RLVR framework for vision-language reasoning on satellite imagery, leveraging rule-based verifiable rewards to achieve competitive performance with minimal supervision eliminating the need for expensive caption annotations.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3384" y="3213502"/>
            <a:ext cx="2430214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 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1812" y="3732932"/>
            <a:ext cx="6073527" cy="306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3863" indent="-266932" lvl="1">
              <a:lnSpc>
                <a:spcPts val="3461"/>
              </a:lnSpc>
              <a:buFont typeface="Arial"/>
              <a:buChar char="•"/>
            </a:pP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RLVR framework for satellite imagery which does not need caption supervision</a:t>
            </a:r>
          </a:p>
          <a:p>
            <a:pPr algn="l" marL="533863" indent="-266932" lvl="1">
              <a:lnSpc>
                <a:spcPts val="3461"/>
              </a:lnSpc>
              <a:buFont typeface="Arial"/>
              <a:buChar char="•"/>
            </a:pP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carefully curated even </a:t>
            </a: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1-shot training yields</a:t>
            </a: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significant</a:t>
            </a: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gains over the base model.</a:t>
            </a:r>
          </a:p>
          <a:p>
            <a:pPr algn="just" marL="533863" indent="-266932" lvl="1">
              <a:lnSpc>
                <a:spcPts val="3461"/>
              </a:lnSpc>
              <a:buFont typeface="Arial"/>
              <a:buChar char="•"/>
            </a:pPr>
            <a:r>
              <a:rPr lang="en-US" sz="24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General-purpose across multiple remote sensing tasks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0909" y="7194375"/>
            <a:ext cx="2010066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Drawbacks: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0909" y="7713805"/>
            <a:ext cx="6547997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Task-specific overfitting observed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eneralizability beyond satellite imagery unknown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70882" y="3751689"/>
            <a:ext cx="12130462" cy="4867348"/>
          </a:xfrm>
          <a:custGeom>
            <a:avLst/>
            <a:gdLst/>
            <a:ahLst/>
            <a:cxnLst/>
            <a:rect r="r" b="b" t="t" l="l"/>
            <a:pathLst>
              <a:path h="4867348" w="12130462">
                <a:moveTo>
                  <a:pt x="0" y="0"/>
                </a:moveTo>
                <a:lnTo>
                  <a:pt x="12130462" y="0"/>
                </a:lnTo>
                <a:lnTo>
                  <a:pt x="12130462" y="4867348"/>
                </a:lnTo>
                <a:lnTo>
                  <a:pt x="0" y="4867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5215" y="101607"/>
            <a:ext cx="401069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5215" y="714383"/>
            <a:ext cx="1744618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Chart-RVR: Reinforcement Learning with Verifiable Rewards for Explainable Chart Reasoning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5215" y="1200142"/>
            <a:ext cx="16230600" cy="4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9"/>
              </a:lnSpc>
            </a:pPr>
            <a:r>
              <a:rPr lang="en-US" sz="2335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Sanchit Sinha1, Oana Frunza , Kashif Rasul , Yuriy Nevmyvaka, Aidong Zhang, University of Virginia, Morgan Stanley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4929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5215" y="1722344"/>
            <a:ext cx="1762457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Chart-RVR introduces a GRPO-based reinforcement learning framework with three verifiable rewards : </a:t>
            </a: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chart-type classification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reconstruction, and process conformity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improve chart reasoning in vision-language models.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9837" y="2742220"/>
            <a:ext cx="2292036" cy="5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 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4395" y="3185416"/>
            <a:ext cx="12068076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general-purpose RL framework with verifiable surrogate-task rewards for chart reasoning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Outperforms SFT and vanilla GRPO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across 3 VLMs (Qwen2.5-VL, Gemma3,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InternVL-3.5)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Closes OOD performance gap, biggest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gains on EvoChart, ChartQAPro,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ChartBench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roduces more faithful, interpretable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CoT rationales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94395" y="7024090"/>
            <a:ext cx="1926167" cy="5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Drawbacks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9837" y="7484746"/>
            <a:ext cx="15085137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conformity reward relies on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an algorithmic skeleton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Restricted to chart reasoning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ground-truth tables and chart types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to 3B parameters</a:t>
            </a:r>
          </a:p>
          <a:p>
            <a:pPr algn="l">
              <a:lnSpc>
                <a:spcPts val="3359"/>
              </a:lnSpc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53430" y="9372509"/>
            <a:ext cx="36004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7329" y="5688931"/>
            <a:ext cx="12790867" cy="3086832"/>
          </a:xfrm>
          <a:custGeom>
            <a:avLst/>
            <a:gdLst/>
            <a:ahLst/>
            <a:cxnLst/>
            <a:rect r="r" b="b" t="t" l="l"/>
            <a:pathLst>
              <a:path h="3086832" w="12790867">
                <a:moveTo>
                  <a:pt x="0" y="0"/>
                </a:moveTo>
                <a:lnTo>
                  <a:pt x="12790868" y="0"/>
                </a:lnTo>
                <a:lnTo>
                  <a:pt x="12790868" y="3086832"/>
                </a:lnTo>
                <a:lnTo>
                  <a:pt x="0" y="3086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84" t="0" r="-4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9337" y="118109"/>
            <a:ext cx="401069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9337" y="740410"/>
            <a:ext cx="17446183" cy="5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RLVR-Decomposed: The Surprising Effectiveness of Negative Reinforcement in LLM Reasoning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337" y="1307465"/>
            <a:ext cx="17529326" cy="23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9"/>
              </a:lnSpc>
            </a:pPr>
            <a:r>
              <a:rPr lang="en-US" sz="2035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Xinyu Zhu, Mengzhou Xia, Zhepei Wei, Wei-Lin Chen, Danqi Chen, Yu Meng </a:t>
            </a:r>
            <a:r>
              <a:rPr lang="en-US" sz="2035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University of Virginia, Princeton University, </a:t>
            </a:r>
            <a:r>
              <a:rPr lang="en-US" b="true" sz="2035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NeurIPS 2025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4929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9337" y="1898391"/>
            <a:ext cx="17017091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RLVR-Decomposed trains models using reinforcement learning by decomposing the learning signal into positive and negative components, revealing that negative reinforcement alone can be surprisingly effective.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7149" y="3289773"/>
            <a:ext cx="2430214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 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026" y="3733003"/>
            <a:ext cx="14159012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RLVR decomposed into 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two components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PSR and NSR to study their individual effects.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NSR-only training matches/surpasses PPO &amp; GRPO across full Pass@k spectrum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NSR preserves diversity by suppressing wrong answers and redistributing probability mass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Weighted-REINFORCE proposed which upweights NSR, beats PPO &amp; GRPO on MATH, AIME 2025, AMC23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97149" y="5708642"/>
            <a:ext cx="2010066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Drawbacks: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6240478"/>
            <a:ext cx="6326715" cy="297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272" indent="-266636" lvl="1">
              <a:lnSpc>
                <a:spcPts val="3457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NSR only refines existing knowledge, </a:t>
            </a:r>
          </a:p>
          <a:p>
            <a:pPr algn="l">
              <a:lnSpc>
                <a:spcPts val="3457"/>
              </a:lnSpc>
            </a:pPr>
            <a:r>
              <a:rPr lang="en-US" sz="24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teach new behaviors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PSR collapses output diversity, hurts performance at higher k</a:t>
            </a:r>
          </a:p>
          <a:p>
            <a:pPr algn="l" marL="533272" indent="-266636" lvl="1">
              <a:lnSpc>
                <a:spcPts val="3457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only on math</a:t>
            </a:r>
          </a:p>
          <a:p>
            <a:pPr algn="l" marL="533272" indent="-266636" lvl="1">
              <a:lnSpc>
                <a:spcPts val="3457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evaluation on visual or multimodal tasks </a:t>
            </a:r>
          </a:p>
          <a:p>
            <a:pPr algn="just">
              <a:lnSpc>
                <a:spcPts val="3018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464" y="92041"/>
            <a:ext cx="494267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Challenges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4929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464" y="740427"/>
            <a:ext cx="10419775" cy="5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Collective Disadvantages &amp; Problems Across the discussed Papers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855227"/>
            <a:ext cx="9525" cy="5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08892" y="1795504"/>
            <a:ext cx="6031523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limitations of the existing models :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46296"/>
            <a:ext cx="16720945" cy="594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RLVR methods suffer from reasoning collapse and hallucination 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[Chart-RVR; CoT-Pass@K]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evaluation metrics like Pass@K reward correct final answers regardless of reasoning validity, making RLVR appear ineffective when it is genuinely improving reasoning quality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[CoT-Pass@K; RLVR-Decomposed]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reinforcement destroys output diversity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[RLVR-Decomposed; Chart-RVR]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 designs treat all reasoning levels uniformly, limiting robustness across visual domains 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[Chart-RVR, 2025]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948" y="92074"/>
            <a:ext cx="1591547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Questions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4929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8948" y="714375"/>
            <a:ext cx="10419775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we are trying to address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855227"/>
            <a:ext cx="9525" cy="5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8948" y="1614805"/>
            <a:ext cx="17720844" cy="104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RLVR, with only 1,000 training samples and a 3B-parameter VLM, produce meaningful improvements in chart QA accuracy and output structure?</a:t>
            </a:r>
          </a:p>
          <a:p>
            <a:pPr algn="l" marL="1209042" indent="-403014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would establish whether RLVR is viable for visual reasoning under resource constraints.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</a:t>
            </a: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oes reasoning-path-aware reward design outperform flat reward design?</a:t>
            </a:r>
          </a:p>
          <a:p>
            <a:pPr algn="l" marL="1209042" indent="-403014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Tests whether the path to the answer matters, not just the answer itself.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Negative Sample Reward (NSR), designed for text math, transfer to a vision-language model with multi-component rewards?</a:t>
            </a:r>
          </a:p>
          <a:p>
            <a:pPr algn="l" marL="1209042" indent="-403014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NSR generalizes to VLMs, it opens a new class of training strategies for visual reasoning beyond our chart task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Is explicit diversity promotion competitive with implicit diversity preservation?</a:t>
            </a:r>
          </a:p>
          <a:p>
            <a:pPr algn="l" marL="1209042" indent="-403014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HCPC, which explicitly rewards diverse correct reasoning across rollouts, compare with NSR, which preserves diversity by withholding gradients from correct rollouts?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4343" y="330199"/>
            <a:ext cx="1591547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49291" y="9490711"/>
            <a:ext cx="19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4343" y="952500"/>
            <a:ext cx="10419775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Pipeline 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654902"/>
            <a:ext cx="16205301" cy="1780132"/>
          </a:xfrm>
          <a:custGeom>
            <a:avLst/>
            <a:gdLst/>
            <a:ahLst/>
            <a:cxnLst/>
            <a:rect r="r" b="b" t="t" l="l"/>
            <a:pathLst>
              <a:path h="1780132" w="16205301">
                <a:moveTo>
                  <a:pt x="0" y="0"/>
                </a:moveTo>
                <a:lnTo>
                  <a:pt x="16205301" y="0"/>
                </a:lnTo>
                <a:lnTo>
                  <a:pt x="16205301" y="1780132"/>
                </a:lnTo>
                <a:lnTo>
                  <a:pt x="0" y="17801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602" r="0" b="-2419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897626" y="3583087"/>
          <a:ext cx="14492748" cy="5875147"/>
        </p:xfrm>
        <a:graphic>
          <a:graphicData uri="http://schemas.openxmlformats.org/drawingml/2006/table">
            <a:tbl>
              <a:tblPr/>
              <a:tblGrid>
                <a:gridCol w="3782606"/>
                <a:gridCol w="7484768"/>
                <a:gridCol w="3225375"/>
              </a:tblGrid>
              <a:tr h="6020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6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1. Input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Chart image + Question + Ground truth (type, table, answer)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sample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0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2. Generation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 K=8 rollouts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candidate responses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6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3. Parsing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Extract type, table, reasoning, answer from each rollout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Structured components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6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4. Filtering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Identify fully correct rollouts (match GT type, table, answer)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Correct set for HCPC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0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5. Rewards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 R_base + R_HCPC + R_CLC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Per-sample total reward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6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6. Advantages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Method-dependent (GRPO/NSR/W-REINFORCE)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Gradient weights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0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7. Update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Policy gradient step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Updated model θ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59786" y="9671176"/>
            <a:ext cx="414164" cy="61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2"/>
              </a:lnSpc>
              <a:spcBef>
                <a:spcPct val="0"/>
              </a:spcBef>
            </a:pPr>
            <a:r>
              <a:rPr lang="en-US" b="true" sz="345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47318" y="1033929"/>
            <a:ext cx="3468182" cy="6991449"/>
            <a:chOff x="0" y="0"/>
            <a:chExt cx="671673" cy="1354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1673" cy="1354014"/>
            </a:xfrm>
            <a:custGeom>
              <a:avLst/>
              <a:gdLst/>
              <a:ahLst/>
              <a:cxnLst/>
              <a:rect r="r" b="b" t="t" l="l"/>
              <a:pathLst>
                <a:path h="1354014" w="671673">
                  <a:moveTo>
                    <a:pt x="113846" y="0"/>
                  </a:moveTo>
                  <a:lnTo>
                    <a:pt x="557827" y="0"/>
                  </a:lnTo>
                  <a:cubicBezTo>
                    <a:pt x="620702" y="0"/>
                    <a:pt x="671673" y="50970"/>
                    <a:pt x="671673" y="113846"/>
                  </a:cubicBezTo>
                  <a:lnTo>
                    <a:pt x="671673" y="1240168"/>
                  </a:lnTo>
                  <a:cubicBezTo>
                    <a:pt x="671673" y="1303043"/>
                    <a:pt x="620702" y="1354014"/>
                    <a:pt x="557827" y="1354014"/>
                  </a:cubicBezTo>
                  <a:lnTo>
                    <a:pt x="113846" y="1354014"/>
                  </a:lnTo>
                  <a:cubicBezTo>
                    <a:pt x="83652" y="1354014"/>
                    <a:pt x="54695" y="1342020"/>
                    <a:pt x="33345" y="1320669"/>
                  </a:cubicBezTo>
                  <a:cubicBezTo>
                    <a:pt x="11994" y="1299319"/>
                    <a:pt x="0" y="1270362"/>
                    <a:pt x="0" y="1240168"/>
                  </a:cubicBezTo>
                  <a:lnTo>
                    <a:pt x="0" y="113846"/>
                  </a:lnTo>
                  <a:cubicBezTo>
                    <a:pt x="0" y="50970"/>
                    <a:pt x="50970" y="0"/>
                    <a:pt x="113846" y="0"/>
                  </a:cubicBezTo>
                  <a:close/>
                </a:path>
              </a:pathLst>
            </a:custGeom>
            <a:solidFill>
              <a:srgbClr val="C2DCFF">
                <a:alpha val="14902"/>
              </a:srgbClr>
            </a:solidFill>
            <a:ln w="76200" cap="rnd">
              <a:solidFill>
                <a:srgbClr val="1800AD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1673" cy="139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2753" y="1665211"/>
            <a:ext cx="4060785" cy="4187639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583265" y="1616609"/>
            <a:ext cx="2996288" cy="422950"/>
            <a:chOff x="0" y="0"/>
            <a:chExt cx="862790" cy="1217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2790" cy="121793"/>
            </a:xfrm>
            <a:custGeom>
              <a:avLst/>
              <a:gdLst/>
              <a:ahLst/>
              <a:cxnLst/>
              <a:rect r="r" b="b" t="t" l="l"/>
              <a:pathLst>
                <a:path h="121793" w="862790">
                  <a:moveTo>
                    <a:pt x="862790" y="7752"/>
                  </a:moveTo>
                  <a:lnTo>
                    <a:pt x="862790" y="114041"/>
                  </a:lnTo>
                  <a:cubicBezTo>
                    <a:pt x="862790" y="118323"/>
                    <a:pt x="859319" y="121793"/>
                    <a:pt x="855038" y="121793"/>
                  </a:cubicBezTo>
                  <a:lnTo>
                    <a:pt x="7752" y="121793"/>
                  </a:lnTo>
                  <a:cubicBezTo>
                    <a:pt x="3470" y="121793"/>
                    <a:pt x="0" y="118323"/>
                    <a:pt x="0" y="114041"/>
                  </a:cubicBezTo>
                  <a:lnTo>
                    <a:pt x="0" y="7752"/>
                  </a:lnTo>
                  <a:cubicBezTo>
                    <a:pt x="0" y="3470"/>
                    <a:pt x="3470" y="0"/>
                    <a:pt x="7752" y="0"/>
                  </a:cubicBezTo>
                  <a:lnTo>
                    <a:pt x="855038" y="0"/>
                  </a:lnTo>
                  <a:cubicBezTo>
                    <a:pt x="859319" y="0"/>
                    <a:pt x="862790" y="3470"/>
                    <a:pt x="862790" y="7752"/>
                  </a:cubicBezTo>
                  <a:close/>
                </a:path>
              </a:pathLst>
            </a:custGeom>
            <a:solidFill>
              <a:srgbClr val="C2DCFF"/>
            </a:solidFill>
            <a:ln w="19050" cap="sq">
              <a:solidFill>
                <a:srgbClr val="C2DC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62790" cy="159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8429" y="6544994"/>
            <a:ext cx="3100413" cy="1264717"/>
            <a:chOff x="0" y="0"/>
            <a:chExt cx="617188" cy="2517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7188" cy="251762"/>
            </a:xfrm>
            <a:custGeom>
              <a:avLst/>
              <a:gdLst/>
              <a:ahLst/>
              <a:cxnLst/>
              <a:rect r="r" b="b" t="t" l="l"/>
              <a:pathLst>
                <a:path h="251762" w="617188">
                  <a:moveTo>
                    <a:pt x="2497" y="0"/>
                  </a:moveTo>
                  <a:lnTo>
                    <a:pt x="614691" y="0"/>
                  </a:lnTo>
                  <a:cubicBezTo>
                    <a:pt x="615353" y="0"/>
                    <a:pt x="615988" y="263"/>
                    <a:pt x="616456" y="731"/>
                  </a:cubicBezTo>
                  <a:cubicBezTo>
                    <a:pt x="616925" y="1200"/>
                    <a:pt x="617188" y="1835"/>
                    <a:pt x="617188" y="2497"/>
                  </a:cubicBezTo>
                  <a:lnTo>
                    <a:pt x="617188" y="249265"/>
                  </a:lnTo>
                  <a:cubicBezTo>
                    <a:pt x="617188" y="249928"/>
                    <a:pt x="616925" y="250563"/>
                    <a:pt x="616456" y="251031"/>
                  </a:cubicBezTo>
                  <a:cubicBezTo>
                    <a:pt x="615988" y="251499"/>
                    <a:pt x="615353" y="251762"/>
                    <a:pt x="614691" y="251762"/>
                  </a:cubicBezTo>
                  <a:lnTo>
                    <a:pt x="2497" y="251762"/>
                  </a:lnTo>
                  <a:cubicBezTo>
                    <a:pt x="1835" y="251762"/>
                    <a:pt x="1200" y="251499"/>
                    <a:pt x="731" y="251031"/>
                  </a:cubicBezTo>
                  <a:cubicBezTo>
                    <a:pt x="263" y="250563"/>
                    <a:pt x="0" y="249928"/>
                    <a:pt x="0" y="249265"/>
                  </a:cubicBezTo>
                  <a:lnTo>
                    <a:pt x="0" y="2497"/>
                  </a:lnTo>
                  <a:cubicBezTo>
                    <a:pt x="0" y="1835"/>
                    <a:pt x="263" y="1200"/>
                    <a:pt x="731" y="731"/>
                  </a:cubicBezTo>
                  <a:cubicBezTo>
                    <a:pt x="1200" y="263"/>
                    <a:pt x="1835" y="0"/>
                    <a:pt x="2497" y="0"/>
                  </a:cubicBezTo>
                  <a:close/>
                </a:path>
              </a:pathLst>
            </a:custGeom>
            <a:ln w="19050" cap="sq">
              <a:solidFill>
                <a:srgbClr val="C2DC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17188" cy="280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40"/>
                </a:lnSpc>
              </a:pPr>
            </a:p>
            <a:p>
              <a:pPr algn="l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type : </a:t>
              </a:r>
              <a:r>
                <a:rPr lang="en-US" sz="1600">
                  <a:solidFill>
                    <a:srgbClr val="00000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bar</a:t>
              </a:r>
            </a:p>
            <a:p>
              <a:pPr algn="l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table : </a:t>
              </a:r>
              <a:r>
                <a:rPr lang="en-US" sz="1600">
                  <a:solidFill>
                    <a:srgbClr val="00000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{ 2020:100, 2021:150 }</a:t>
              </a:r>
            </a:p>
            <a:p>
              <a:pPr algn="l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answer :</a:t>
              </a:r>
              <a:r>
                <a:rPr lang="en-US" sz="1600">
                  <a:solidFill>
                    <a:srgbClr val="00000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250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8429" y="6544217"/>
            <a:ext cx="3128988" cy="291462"/>
            <a:chOff x="0" y="0"/>
            <a:chExt cx="622876" cy="58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876" cy="58020"/>
            </a:xfrm>
            <a:custGeom>
              <a:avLst/>
              <a:gdLst/>
              <a:ahLst/>
              <a:cxnLst/>
              <a:rect r="r" b="b" t="t" l="l"/>
              <a:pathLst>
                <a:path h="58020" w="622876">
                  <a:moveTo>
                    <a:pt x="14846" y="0"/>
                  </a:moveTo>
                  <a:lnTo>
                    <a:pt x="608030" y="0"/>
                  </a:lnTo>
                  <a:cubicBezTo>
                    <a:pt x="616229" y="0"/>
                    <a:pt x="622876" y="6647"/>
                    <a:pt x="622876" y="14846"/>
                  </a:cubicBezTo>
                  <a:lnTo>
                    <a:pt x="622876" y="43175"/>
                  </a:lnTo>
                  <a:cubicBezTo>
                    <a:pt x="622876" y="51374"/>
                    <a:pt x="616229" y="58020"/>
                    <a:pt x="608030" y="58020"/>
                  </a:cubicBezTo>
                  <a:lnTo>
                    <a:pt x="14846" y="58020"/>
                  </a:lnTo>
                  <a:cubicBezTo>
                    <a:pt x="6647" y="58020"/>
                    <a:pt x="0" y="51374"/>
                    <a:pt x="0" y="43175"/>
                  </a:cubicBezTo>
                  <a:lnTo>
                    <a:pt x="0" y="14846"/>
                  </a:lnTo>
                  <a:cubicBezTo>
                    <a:pt x="0" y="6647"/>
                    <a:pt x="6647" y="0"/>
                    <a:pt x="14846" y="0"/>
                  </a:cubicBezTo>
                  <a:close/>
                </a:path>
              </a:pathLst>
            </a:custGeom>
            <a:solidFill>
              <a:srgbClr val="C2DCFF"/>
            </a:solidFill>
            <a:ln w="19050" cap="sq">
              <a:solidFill>
                <a:srgbClr val="C2DC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22876" cy="67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9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4238" y="5730312"/>
            <a:ext cx="3066029" cy="712267"/>
            <a:chOff x="0" y="0"/>
            <a:chExt cx="610343" cy="1417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0343" cy="141788"/>
            </a:xfrm>
            <a:custGeom>
              <a:avLst/>
              <a:gdLst/>
              <a:ahLst/>
              <a:cxnLst/>
              <a:rect r="r" b="b" t="t" l="l"/>
              <a:pathLst>
                <a:path h="141788" w="610343">
                  <a:moveTo>
                    <a:pt x="2525" y="0"/>
                  </a:moveTo>
                  <a:lnTo>
                    <a:pt x="607818" y="0"/>
                  </a:lnTo>
                  <a:cubicBezTo>
                    <a:pt x="609212" y="0"/>
                    <a:pt x="610343" y="1131"/>
                    <a:pt x="610343" y="2525"/>
                  </a:cubicBezTo>
                  <a:lnTo>
                    <a:pt x="610343" y="139263"/>
                  </a:lnTo>
                  <a:cubicBezTo>
                    <a:pt x="610343" y="139933"/>
                    <a:pt x="610077" y="140575"/>
                    <a:pt x="609603" y="141049"/>
                  </a:cubicBezTo>
                  <a:cubicBezTo>
                    <a:pt x="609130" y="141522"/>
                    <a:pt x="608488" y="141788"/>
                    <a:pt x="607818" y="141788"/>
                  </a:cubicBezTo>
                  <a:lnTo>
                    <a:pt x="2525" y="141788"/>
                  </a:lnTo>
                  <a:cubicBezTo>
                    <a:pt x="1855" y="141788"/>
                    <a:pt x="1213" y="141522"/>
                    <a:pt x="740" y="141049"/>
                  </a:cubicBezTo>
                  <a:cubicBezTo>
                    <a:pt x="266" y="140575"/>
                    <a:pt x="0" y="139933"/>
                    <a:pt x="0" y="139263"/>
                  </a:cubicBezTo>
                  <a:lnTo>
                    <a:pt x="0" y="2525"/>
                  </a:lnTo>
                  <a:cubicBezTo>
                    <a:pt x="0" y="1855"/>
                    <a:pt x="266" y="1213"/>
                    <a:pt x="740" y="740"/>
                  </a:cubicBezTo>
                  <a:cubicBezTo>
                    <a:pt x="1213" y="266"/>
                    <a:pt x="1855" y="0"/>
                    <a:pt x="2525" y="0"/>
                  </a:cubicBezTo>
                  <a:close/>
                </a:path>
              </a:pathLst>
            </a:custGeom>
            <a:ln w="19050" cap="sq">
              <a:solidFill>
                <a:srgbClr val="C2DC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10343" cy="170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What is the total sales for 2020 and 2021?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8429" y="5467996"/>
            <a:ext cx="3100413" cy="267896"/>
            <a:chOff x="0" y="0"/>
            <a:chExt cx="617188" cy="533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7188" cy="53329"/>
            </a:xfrm>
            <a:custGeom>
              <a:avLst/>
              <a:gdLst/>
              <a:ahLst/>
              <a:cxnLst/>
              <a:rect r="r" b="b" t="t" l="l"/>
              <a:pathLst>
                <a:path h="53329" w="617188">
                  <a:moveTo>
                    <a:pt x="14982" y="0"/>
                  </a:moveTo>
                  <a:lnTo>
                    <a:pt x="602205" y="0"/>
                  </a:lnTo>
                  <a:cubicBezTo>
                    <a:pt x="606179" y="0"/>
                    <a:pt x="609990" y="1578"/>
                    <a:pt x="612799" y="4388"/>
                  </a:cubicBezTo>
                  <a:cubicBezTo>
                    <a:pt x="615609" y="7198"/>
                    <a:pt x="617188" y="11009"/>
                    <a:pt x="617188" y="14982"/>
                  </a:cubicBezTo>
                  <a:lnTo>
                    <a:pt x="617188" y="38347"/>
                  </a:lnTo>
                  <a:cubicBezTo>
                    <a:pt x="617188" y="46621"/>
                    <a:pt x="610480" y="53329"/>
                    <a:pt x="602205" y="53329"/>
                  </a:cubicBezTo>
                  <a:lnTo>
                    <a:pt x="14982" y="53329"/>
                  </a:lnTo>
                  <a:cubicBezTo>
                    <a:pt x="11009" y="53329"/>
                    <a:pt x="7198" y="51751"/>
                    <a:pt x="4388" y="48941"/>
                  </a:cubicBezTo>
                  <a:cubicBezTo>
                    <a:pt x="1578" y="46131"/>
                    <a:pt x="0" y="42320"/>
                    <a:pt x="0" y="38347"/>
                  </a:cubicBezTo>
                  <a:lnTo>
                    <a:pt x="0" y="14982"/>
                  </a:lnTo>
                  <a:cubicBezTo>
                    <a:pt x="0" y="6708"/>
                    <a:pt x="6708" y="0"/>
                    <a:pt x="14982" y="0"/>
                  </a:cubicBezTo>
                  <a:close/>
                </a:path>
              </a:pathLst>
            </a:custGeom>
            <a:solidFill>
              <a:srgbClr val="C2DCFF"/>
            </a:solidFill>
            <a:ln w="19050" cap="sq">
              <a:solidFill>
                <a:srgbClr val="C2DC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17188" cy="6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98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54167" y="1043527"/>
            <a:ext cx="4537090" cy="5250585"/>
            <a:chOff x="0" y="0"/>
            <a:chExt cx="781903" cy="9048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1903" cy="904864"/>
            </a:xfrm>
            <a:custGeom>
              <a:avLst/>
              <a:gdLst/>
              <a:ahLst/>
              <a:cxnLst/>
              <a:rect r="r" b="b" t="t" l="l"/>
              <a:pathLst>
                <a:path h="904864" w="781903">
                  <a:moveTo>
                    <a:pt x="87024" y="0"/>
                  </a:moveTo>
                  <a:lnTo>
                    <a:pt x="694878" y="0"/>
                  </a:lnTo>
                  <a:cubicBezTo>
                    <a:pt x="717959" y="0"/>
                    <a:pt x="740094" y="9169"/>
                    <a:pt x="756414" y="25489"/>
                  </a:cubicBezTo>
                  <a:cubicBezTo>
                    <a:pt x="772734" y="41809"/>
                    <a:pt x="781903" y="63944"/>
                    <a:pt x="781903" y="87024"/>
                  </a:cubicBezTo>
                  <a:lnTo>
                    <a:pt x="781903" y="817839"/>
                  </a:lnTo>
                  <a:cubicBezTo>
                    <a:pt x="781903" y="840919"/>
                    <a:pt x="772734" y="863054"/>
                    <a:pt x="756414" y="879375"/>
                  </a:cubicBezTo>
                  <a:cubicBezTo>
                    <a:pt x="740094" y="895695"/>
                    <a:pt x="717959" y="904864"/>
                    <a:pt x="694878" y="904864"/>
                  </a:cubicBezTo>
                  <a:lnTo>
                    <a:pt x="87024" y="904864"/>
                  </a:lnTo>
                  <a:cubicBezTo>
                    <a:pt x="63944" y="904864"/>
                    <a:pt x="41809" y="895695"/>
                    <a:pt x="25489" y="879375"/>
                  </a:cubicBezTo>
                  <a:cubicBezTo>
                    <a:pt x="9169" y="863054"/>
                    <a:pt x="0" y="840919"/>
                    <a:pt x="0" y="817839"/>
                  </a:cubicBezTo>
                  <a:lnTo>
                    <a:pt x="0" y="87024"/>
                  </a:lnTo>
                  <a:cubicBezTo>
                    <a:pt x="0" y="63944"/>
                    <a:pt x="9169" y="41809"/>
                    <a:pt x="25489" y="25489"/>
                  </a:cubicBezTo>
                  <a:cubicBezTo>
                    <a:pt x="41809" y="9169"/>
                    <a:pt x="63944" y="0"/>
                    <a:pt x="87024" y="0"/>
                  </a:cubicBezTo>
                  <a:close/>
                </a:path>
              </a:pathLst>
            </a:custGeom>
            <a:solidFill>
              <a:srgbClr val="C2DCFF">
                <a:alpha val="14902"/>
              </a:srgbClr>
            </a:solidFill>
            <a:ln w="76200" cap="rnd">
              <a:solidFill>
                <a:srgbClr val="1800AD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81903" cy="942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77394" y="2495699"/>
            <a:ext cx="3657931" cy="956673"/>
            <a:chOff x="0" y="0"/>
            <a:chExt cx="492494" cy="1288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2494" cy="128804"/>
            </a:xfrm>
            <a:custGeom>
              <a:avLst/>
              <a:gdLst/>
              <a:ahLst/>
              <a:cxnLst/>
              <a:rect r="r" b="b" t="t" l="l"/>
              <a:pathLst>
                <a:path h="128804" w="492494">
                  <a:moveTo>
                    <a:pt x="26456" y="0"/>
                  </a:moveTo>
                  <a:lnTo>
                    <a:pt x="466038" y="0"/>
                  </a:lnTo>
                  <a:cubicBezTo>
                    <a:pt x="480649" y="0"/>
                    <a:pt x="492494" y="11845"/>
                    <a:pt x="492494" y="26456"/>
                  </a:cubicBezTo>
                  <a:lnTo>
                    <a:pt x="492494" y="102348"/>
                  </a:lnTo>
                  <a:cubicBezTo>
                    <a:pt x="492494" y="116959"/>
                    <a:pt x="480649" y="128804"/>
                    <a:pt x="466038" y="128804"/>
                  </a:cubicBezTo>
                  <a:lnTo>
                    <a:pt x="26456" y="128804"/>
                  </a:lnTo>
                  <a:cubicBezTo>
                    <a:pt x="11845" y="128804"/>
                    <a:pt x="0" y="116959"/>
                    <a:pt x="0" y="102348"/>
                  </a:cubicBezTo>
                  <a:lnTo>
                    <a:pt x="0" y="26456"/>
                  </a:lnTo>
                  <a:cubicBezTo>
                    <a:pt x="0" y="11845"/>
                    <a:pt x="11845" y="0"/>
                    <a:pt x="26456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92494" cy="147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00000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   </a:t>
              </a:r>
            </a:p>
            <a:p>
              <a:pPr algn="l">
                <a:lnSpc>
                  <a:spcPts val="168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25429" y="3622522"/>
            <a:ext cx="3674309" cy="956673"/>
            <a:chOff x="0" y="0"/>
            <a:chExt cx="494699" cy="1288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4699" cy="128804"/>
            </a:xfrm>
            <a:custGeom>
              <a:avLst/>
              <a:gdLst/>
              <a:ahLst/>
              <a:cxnLst/>
              <a:rect r="r" b="b" t="t" l="l"/>
              <a:pathLst>
                <a:path h="128804" w="494699">
                  <a:moveTo>
                    <a:pt x="26338" y="0"/>
                  </a:moveTo>
                  <a:lnTo>
                    <a:pt x="468361" y="0"/>
                  </a:lnTo>
                  <a:cubicBezTo>
                    <a:pt x="475346" y="0"/>
                    <a:pt x="482046" y="2775"/>
                    <a:pt x="486985" y="7714"/>
                  </a:cubicBezTo>
                  <a:cubicBezTo>
                    <a:pt x="491924" y="12654"/>
                    <a:pt x="494699" y="19353"/>
                    <a:pt x="494699" y="26338"/>
                  </a:cubicBezTo>
                  <a:lnTo>
                    <a:pt x="494699" y="102466"/>
                  </a:lnTo>
                  <a:cubicBezTo>
                    <a:pt x="494699" y="117012"/>
                    <a:pt x="482907" y="128804"/>
                    <a:pt x="468361" y="128804"/>
                  </a:cubicBezTo>
                  <a:lnTo>
                    <a:pt x="26338" y="128804"/>
                  </a:lnTo>
                  <a:cubicBezTo>
                    <a:pt x="11792" y="128804"/>
                    <a:pt x="0" y="117012"/>
                    <a:pt x="0" y="102466"/>
                  </a:cubicBezTo>
                  <a:lnTo>
                    <a:pt x="0" y="26338"/>
                  </a:lnTo>
                  <a:cubicBezTo>
                    <a:pt x="0" y="11792"/>
                    <a:pt x="11792" y="0"/>
                    <a:pt x="26338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94699" cy="138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120"/>
                </a:lnSpc>
              </a:pPr>
              <a:r>
                <a:rPr lang="en-US" sz="800">
                  <a:solidFill>
                    <a:srgbClr val="00000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        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80721" y="4977880"/>
            <a:ext cx="3771700" cy="956673"/>
            <a:chOff x="0" y="0"/>
            <a:chExt cx="507812" cy="1288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7812" cy="128804"/>
            </a:xfrm>
            <a:custGeom>
              <a:avLst/>
              <a:gdLst/>
              <a:ahLst/>
              <a:cxnLst/>
              <a:rect r="r" b="b" t="t" l="l"/>
              <a:pathLst>
                <a:path h="128804" w="507812">
                  <a:moveTo>
                    <a:pt x="25658" y="0"/>
                  </a:moveTo>
                  <a:lnTo>
                    <a:pt x="482154" y="0"/>
                  </a:lnTo>
                  <a:cubicBezTo>
                    <a:pt x="496324" y="0"/>
                    <a:pt x="507812" y="11487"/>
                    <a:pt x="507812" y="25658"/>
                  </a:cubicBezTo>
                  <a:lnTo>
                    <a:pt x="507812" y="103146"/>
                  </a:lnTo>
                  <a:cubicBezTo>
                    <a:pt x="507812" y="117316"/>
                    <a:pt x="496324" y="128804"/>
                    <a:pt x="482154" y="128804"/>
                  </a:cubicBezTo>
                  <a:lnTo>
                    <a:pt x="25658" y="128804"/>
                  </a:lnTo>
                  <a:cubicBezTo>
                    <a:pt x="11487" y="128804"/>
                    <a:pt x="0" y="117316"/>
                    <a:pt x="0" y="103146"/>
                  </a:cubicBezTo>
                  <a:lnTo>
                    <a:pt x="0" y="25658"/>
                  </a:lnTo>
                  <a:cubicBezTo>
                    <a:pt x="0" y="11487"/>
                    <a:pt x="11487" y="0"/>
                    <a:pt x="25658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07812" cy="138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120"/>
                </a:lnSpc>
              </a:pPr>
              <a:r>
                <a:rPr lang="en-US" sz="800">
                  <a:solidFill>
                    <a:srgbClr val="00000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       </a:t>
              </a:r>
            </a:p>
            <a:p>
              <a:pPr algn="l">
                <a:lnSpc>
                  <a:spcPts val="112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38447" y="1153051"/>
            <a:ext cx="3655061" cy="2412340"/>
            <a:chOff x="0" y="0"/>
            <a:chExt cx="635000" cy="419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370" y="0"/>
                  </a:moveTo>
                  <a:lnTo>
                    <a:pt x="593630" y="0"/>
                  </a:lnTo>
                  <a:cubicBezTo>
                    <a:pt x="604602" y="0"/>
                    <a:pt x="615125" y="4359"/>
                    <a:pt x="622883" y="12117"/>
                  </a:cubicBezTo>
                  <a:cubicBezTo>
                    <a:pt x="630641" y="19875"/>
                    <a:pt x="635000" y="30398"/>
                    <a:pt x="635000" y="41370"/>
                  </a:cubicBezTo>
                  <a:lnTo>
                    <a:pt x="635000" y="377730"/>
                  </a:lnTo>
                  <a:cubicBezTo>
                    <a:pt x="635000" y="388702"/>
                    <a:pt x="630641" y="399225"/>
                    <a:pt x="622883" y="406983"/>
                  </a:cubicBezTo>
                  <a:cubicBezTo>
                    <a:pt x="615125" y="414741"/>
                    <a:pt x="604602" y="419100"/>
                    <a:pt x="593630" y="419100"/>
                  </a:cubicBezTo>
                  <a:lnTo>
                    <a:pt x="41370" y="419100"/>
                  </a:lnTo>
                  <a:cubicBezTo>
                    <a:pt x="30398" y="419100"/>
                    <a:pt x="19875" y="414741"/>
                    <a:pt x="12117" y="406983"/>
                  </a:cubicBezTo>
                  <a:cubicBezTo>
                    <a:pt x="4359" y="399225"/>
                    <a:pt x="0" y="388702"/>
                    <a:pt x="0" y="377730"/>
                  </a:cubicBezTo>
                  <a:lnTo>
                    <a:pt x="0" y="41370"/>
                  </a:lnTo>
                  <a:cubicBezTo>
                    <a:pt x="0" y="30398"/>
                    <a:pt x="4359" y="19875"/>
                    <a:pt x="12117" y="12117"/>
                  </a:cubicBezTo>
                  <a:cubicBezTo>
                    <a:pt x="19875" y="4359"/>
                    <a:pt x="30398" y="0"/>
                    <a:pt x="41370" y="0"/>
                  </a:cubicBezTo>
                  <a:close/>
                </a:path>
              </a:pathLst>
            </a:custGeom>
            <a:solidFill>
              <a:srgbClr val="E4FFC2">
                <a:alpha val="29804"/>
              </a:srgbClr>
            </a:solidFill>
            <a:ln w="76200" cap="rnd">
              <a:solidFill>
                <a:srgbClr val="000000">
                  <a:alpha val="29804"/>
                </a:srgbClr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7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833664" y="2742120"/>
            <a:ext cx="3863137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33208" y="1789984"/>
            <a:ext cx="3560300" cy="161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7"/>
              </a:lnSpc>
            </a:pPr>
            <a:r>
              <a:rPr lang="en-US" sz="18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   Extract </a:t>
            </a:r>
          </a:p>
          <a:p>
            <a:pPr algn="just" marL="395947" indent="-197974" lvl="1">
              <a:lnSpc>
                <a:spcPts val="2567"/>
              </a:lnSpc>
              <a:buAutoNum type="arabicPeriod" startAt="1"/>
            </a:pP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chart type</a:t>
            </a:r>
          </a:p>
          <a:p>
            <a:pPr algn="just" marL="395947" indent="-197974" lvl="1">
              <a:lnSpc>
                <a:spcPts val="2567"/>
              </a:lnSpc>
              <a:buAutoNum type="arabicPeriod" startAt="1"/>
            </a:pP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</a:t>
            </a: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table</a:t>
            </a:r>
          </a:p>
          <a:p>
            <a:pPr algn="just" marL="395947" indent="-197974" lvl="1">
              <a:lnSpc>
                <a:spcPts val="2567"/>
              </a:lnSpc>
              <a:buAutoNum type="arabicPeriod" startAt="1"/>
            </a:pP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</a:t>
            </a: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reasoning</a:t>
            </a:r>
          </a:p>
          <a:p>
            <a:pPr algn="just" marL="395947" indent="-197974" lvl="1">
              <a:lnSpc>
                <a:spcPts val="2567"/>
              </a:lnSpc>
              <a:spcBef>
                <a:spcPct val="0"/>
              </a:spcBef>
              <a:buAutoNum type="arabicPeriod" startAt="1"/>
            </a:pP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answer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803366" y="1028700"/>
            <a:ext cx="3934400" cy="3129721"/>
            <a:chOff x="0" y="0"/>
            <a:chExt cx="678038" cy="5393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8038" cy="539363"/>
            </a:xfrm>
            <a:custGeom>
              <a:avLst/>
              <a:gdLst/>
              <a:ahLst/>
              <a:cxnLst/>
              <a:rect r="r" b="b" t="t" l="l"/>
              <a:pathLst>
                <a:path h="539363" w="678038">
                  <a:moveTo>
                    <a:pt x="100355" y="0"/>
                  </a:moveTo>
                  <a:lnTo>
                    <a:pt x="577683" y="0"/>
                  </a:lnTo>
                  <a:cubicBezTo>
                    <a:pt x="633107" y="0"/>
                    <a:pt x="678038" y="44931"/>
                    <a:pt x="678038" y="100355"/>
                  </a:cubicBezTo>
                  <a:lnTo>
                    <a:pt x="678038" y="439007"/>
                  </a:lnTo>
                  <a:cubicBezTo>
                    <a:pt x="678038" y="494432"/>
                    <a:pt x="633107" y="539363"/>
                    <a:pt x="577683" y="539363"/>
                  </a:cubicBezTo>
                  <a:lnTo>
                    <a:pt x="100355" y="539363"/>
                  </a:lnTo>
                  <a:cubicBezTo>
                    <a:pt x="44931" y="539363"/>
                    <a:pt x="0" y="494432"/>
                    <a:pt x="0" y="439007"/>
                  </a:cubicBezTo>
                  <a:lnTo>
                    <a:pt x="0" y="100355"/>
                  </a:lnTo>
                  <a:cubicBezTo>
                    <a:pt x="0" y="44931"/>
                    <a:pt x="44931" y="0"/>
                    <a:pt x="100355" y="0"/>
                  </a:cubicBezTo>
                  <a:close/>
                </a:path>
              </a:pathLst>
            </a:custGeom>
            <a:solidFill>
              <a:srgbClr val="E2A9F1">
                <a:alpha val="14902"/>
              </a:srgbClr>
            </a:solidFill>
            <a:ln w="76200" cap="rnd">
              <a:solidFill>
                <a:srgbClr val="1800AD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78038" cy="577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977395" y="4387799"/>
            <a:ext cx="1664427" cy="520776"/>
            <a:chOff x="0" y="0"/>
            <a:chExt cx="286840" cy="897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6840" cy="89748"/>
            </a:xfrm>
            <a:custGeom>
              <a:avLst/>
              <a:gdLst/>
              <a:ahLst/>
              <a:cxnLst/>
              <a:rect r="r" b="b" t="t" l="l"/>
              <a:pathLst>
                <a:path h="89748" w="286840">
                  <a:moveTo>
                    <a:pt x="13954" y="0"/>
                  </a:moveTo>
                  <a:lnTo>
                    <a:pt x="272886" y="0"/>
                  </a:lnTo>
                  <a:cubicBezTo>
                    <a:pt x="280593" y="0"/>
                    <a:pt x="286840" y="6248"/>
                    <a:pt x="286840" y="13954"/>
                  </a:cubicBezTo>
                  <a:lnTo>
                    <a:pt x="286840" y="75794"/>
                  </a:lnTo>
                  <a:cubicBezTo>
                    <a:pt x="286840" y="83501"/>
                    <a:pt x="280593" y="89748"/>
                    <a:pt x="272886" y="89748"/>
                  </a:cubicBezTo>
                  <a:lnTo>
                    <a:pt x="13954" y="89748"/>
                  </a:lnTo>
                  <a:cubicBezTo>
                    <a:pt x="6248" y="89748"/>
                    <a:pt x="0" y="83501"/>
                    <a:pt x="0" y="75794"/>
                  </a:cubicBezTo>
                  <a:lnTo>
                    <a:pt x="0" y="13954"/>
                  </a:lnTo>
                  <a:cubicBezTo>
                    <a:pt x="0" y="6248"/>
                    <a:pt x="6248" y="0"/>
                    <a:pt x="13954" y="0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  <a:ln w="28575" cap="sq">
              <a:solidFill>
                <a:srgbClr val="415947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86840" cy="127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205534">
                      <a:alpha val="84706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{R1, R4}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693084" y="5244348"/>
            <a:ext cx="4398536" cy="3046077"/>
            <a:chOff x="0" y="0"/>
            <a:chExt cx="764165" cy="52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4165" cy="529200"/>
            </a:xfrm>
            <a:custGeom>
              <a:avLst/>
              <a:gdLst/>
              <a:ahLst/>
              <a:cxnLst/>
              <a:rect r="r" b="b" t="t" l="l"/>
              <a:pathLst>
                <a:path h="529200" w="764165">
                  <a:moveTo>
                    <a:pt x="34377" y="0"/>
                  </a:moveTo>
                  <a:lnTo>
                    <a:pt x="729788" y="0"/>
                  </a:lnTo>
                  <a:cubicBezTo>
                    <a:pt x="738905" y="0"/>
                    <a:pt x="747649" y="3622"/>
                    <a:pt x="754096" y="10069"/>
                  </a:cubicBezTo>
                  <a:cubicBezTo>
                    <a:pt x="760543" y="16516"/>
                    <a:pt x="764165" y="25260"/>
                    <a:pt x="764165" y="34377"/>
                  </a:cubicBezTo>
                  <a:lnTo>
                    <a:pt x="764165" y="494823"/>
                  </a:lnTo>
                  <a:cubicBezTo>
                    <a:pt x="764165" y="503940"/>
                    <a:pt x="760543" y="512684"/>
                    <a:pt x="754096" y="519131"/>
                  </a:cubicBezTo>
                  <a:cubicBezTo>
                    <a:pt x="747649" y="525578"/>
                    <a:pt x="738905" y="529200"/>
                    <a:pt x="729788" y="529200"/>
                  </a:cubicBezTo>
                  <a:lnTo>
                    <a:pt x="34377" y="529200"/>
                  </a:lnTo>
                  <a:cubicBezTo>
                    <a:pt x="25260" y="529200"/>
                    <a:pt x="16516" y="525578"/>
                    <a:pt x="10069" y="519131"/>
                  </a:cubicBezTo>
                  <a:cubicBezTo>
                    <a:pt x="3622" y="512684"/>
                    <a:pt x="0" y="503940"/>
                    <a:pt x="0" y="494823"/>
                  </a:cubicBezTo>
                  <a:lnTo>
                    <a:pt x="0" y="34377"/>
                  </a:lnTo>
                  <a:cubicBezTo>
                    <a:pt x="0" y="25260"/>
                    <a:pt x="3622" y="16516"/>
                    <a:pt x="10069" y="10069"/>
                  </a:cubicBezTo>
                  <a:cubicBezTo>
                    <a:pt x="16516" y="3622"/>
                    <a:pt x="25260" y="0"/>
                    <a:pt x="34377" y="0"/>
                  </a:cubicBezTo>
                  <a:close/>
                </a:path>
              </a:pathLst>
            </a:custGeom>
            <a:solidFill>
              <a:srgbClr val="FFDE59">
                <a:alpha val="12941"/>
              </a:srgbClr>
            </a:solidFill>
            <a:ln w="76200" cap="rnd">
              <a:solidFill>
                <a:srgbClr val="004AAD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64165" cy="56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7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24997" y="3965036"/>
            <a:ext cx="2235469" cy="2469273"/>
            <a:chOff x="0" y="0"/>
            <a:chExt cx="487388" cy="5383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388" cy="538363"/>
            </a:xfrm>
            <a:custGeom>
              <a:avLst/>
              <a:gdLst/>
              <a:ahLst/>
              <a:cxnLst/>
              <a:rect r="r" b="b" t="t" l="l"/>
              <a:pathLst>
                <a:path h="538363" w="487388">
                  <a:moveTo>
                    <a:pt x="67641" y="0"/>
                  </a:moveTo>
                  <a:lnTo>
                    <a:pt x="419747" y="0"/>
                  </a:lnTo>
                  <a:cubicBezTo>
                    <a:pt x="437686" y="0"/>
                    <a:pt x="454891" y="7126"/>
                    <a:pt x="467576" y="19812"/>
                  </a:cubicBezTo>
                  <a:cubicBezTo>
                    <a:pt x="480261" y="32497"/>
                    <a:pt x="487388" y="49701"/>
                    <a:pt x="487388" y="67641"/>
                  </a:cubicBezTo>
                  <a:lnTo>
                    <a:pt x="487388" y="470722"/>
                  </a:lnTo>
                  <a:cubicBezTo>
                    <a:pt x="487388" y="488661"/>
                    <a:pt x="480261" y="505866"/>
                    <a:pt x="467576" y="518551"/>
                  </a:cubicBezTo>
                  <a:cubicBezTo>
                    <a:pt x="454891" y="531236"/>
                    <a:pt x="437686" y="538363"/>
                    <a:pt x="419747" y="538363"/>
                  </a:cubicBezTo>
                  <a:lnTo>
                    <a:pt x="67641" y="538363"/>
                  </a:lnTo>
                  <a:cubicBezTo>
                    <a:pt x="49701" y="538363"/>
                    <a:pt x="32497" y="531236"/>
                    <a:pt x="19812" y="518551"/>
                  </a:cubicBezTo>
                  <a:cubicBezTo>
                    <a:pt x="7126" y="505866"/>
                    <a:pt x="0" y="488661"/>
                    <a:pt x="0" y="470722"/>
                  </a:cubicBezTo>
                  <a:lnTo>
                    <a:pt x="0" y="67641"/>
                  </a:lnTo>
                  <a:cubicBezTo>
                    <a:pt x="0" y="49701"/>
                    <a:pt x="7126" y="32497"/>
                    <a:pt x="19812" y="19812"/>
                  </a:cubicBezTo>
                  <a:cubicBezTo>
                    <a:pt x="32497" y="7126"/>
                    <a:pt x="49701" y="0"/>
                    <a:pt x="67641" y="0"/>
                  </a:cubicBezTo>
                  <a:close/>
                </a:path>
              </a:pathLst>
            </a:custGeom>
            <a:solidFill>
              <a:srgbClr val="168F83">
                <a:alpha val="12941"/>
              </a:srgbClr>
            </a:solidFill>
            <a:ln w="76200" cap="rnd">
              <a:solidFill>
                <a:srgbClr val="000000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87388" cy="576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7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076044" y="5857595"/>
            <a:ext cx="1718710" cy="1677088"/>
            <a:chOff x="0" y="0"/>
            <a:chExt cx="296195" cy="2890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6195" cy="289022"/>
            </a:xfrm>
            <a:custGeom>
              <a:avLst/>
              <a:gdLst/>
              <a:ahLst/>
              <a:cxnLst/>
              <a:rect r="r" b="b" t="t" l="l"/>
              <a:pathLst>
                <a:path h="289022" w="296195">
                  <a:moveTo>
                    <a:pt x="13513" y="0"/>
                  </a:moveTo>
                  <a:lnTo>
                    <a:pt x="282682" y="0"/>
                  </a:lnTo>
                  <a:cubicBezTo>
                    <a:pt x="290145" y="0"/>
                    <a:pt x="296195" y="6050"/>
                    <a:pt x="296195" y="13513"/>
                  </a:cubicBezTo>
                  <a:lnTo>
                    <a:pt x="296195" y="275509"/>
                  </a:lnTo>
                  <a:cubicBezTo>
                    <a:pt x="296195" y="279093"/>
                    <a:pt x="294772" y="282530"/>
                    <a:pt x="292237" y="285064"/>
                  </a:cubicBezTo>
                  <a:cubicBezTo>
                    <a:pt x="289703" y="287598"/>
                    <a:pt x="286266" y="289022"/>
                    <a:pt x="282682" y="289022"/>
                  </a:cubicBezTo>
                  <a:lnTo>
                    <a:pt x="13513" y="289022"/>
                  </a:lnTo>
                  <a:cubicBezTo>
                    <a:pt x="9929" y="289022"/>
                    <a:pt x="6492" y="287598"/>
                    <a:pt x="3958" y="285064"/>
                  </a:cubicBezTo>
                  <a:cubicBezTo>
                    <a:pt x="1424" y="282530"/>
                    <a:pt x="0" y="279093"/>
                    <a:pt x="0" y="275509"/>
                  </a:cubicBezTo>
                  <a:lnTo>
                    <a:pt x="0" y="13513"/>
                  </a:lnTo>
                  <a:cubicBezTo>
                    <a:pt x="0" y="9929"/>
                    <a:pt x="1424" y="6492"/>
                    <a:pt x="3958" y="3958"/>
                  </a:cubicBezTo>
                  <a:cubicBezTo>
                    <a:pt x="6492" y="1424"/>
                    <a:pt x="9929" y="0"/>
                    <a:pt x="13513" y="0"/>
                  </a:cubicBezTo>
                  <a:close/>
                </a:path>
              </a:pathLst>
            </a:custGeom>
            <a:solidFill>
              <a:srgbClr val="FFDE59">
                <a:alpha val="78824"/>
              </a:srgbClr>
            </a:solidFill>
            <a:ln w="28575" cap="sq">
              <a:solidFill>
                <a:srgbClr val="FFDE59">
                  <a:alpha val="78824"/>
                </a:srgbClr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96195" cy="32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918208" y="5857595"/>
            <a:ext cx="1924668" cy="1677088"/>
            <a:chOff x="0" y="0"/>
            <a:chExt cx="331689" cy="28902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31689" cy="289022"/>
            </a:xfrm>
            <a:custGeom>
              <a:avLst/>
              <a:gdLst/>
              <a:ahLst/>
              <a:cxnLst/>
              <a:rect r="r" b="b" t="t" l="l"/>
              <a:pathLst>
                <a:path h="289022" w="331689">
                  <a:moveTo>
                    <a:pt x="12067" y="0"/>
                  </a:moveTo>
                  <a:lnTo>
                    <a:pt x="319622" y="0"/>
                  </a:lnTo>
                  <a:cubicBezTo>
                    <a:pt x="326286" y="0"/>
                    <a:pt x="331689" y="5403"/>
                    <a:pt x="331689" y="12067"/>
                  </a:cubicBezTo>
                  <a:lnTo>
                    <a:pt x="331689" y="276955"/>
                  </a:lnTo>
                  <a:cubicBezTo>
                    <a:pt x="331689" y="280155"/>
                    <a:pt x="330418" y="283225"/>
                    <a:pt x="328155" y="285488"/>
                  </a:cubicBezTo>
                  <a:cubicBezTo>
                    <a:pt x="325892" y="287751"/>
                    <a:pt x="322822" y="289022"/>
                    <a:pt x="319622" y="289022"/>
                  </a:cubicBezTo>
                  <a:lnTo>
                    <a:pt x="12067" y="289022"/>
                  </a:lnTo>
                  <a:cubicBezTo>
                    <a:pt x="8867" y="289022"/>
                    <a:pt x="5798" y="287751"/>
                    <a:pt x="3534" y="285488"/>
                  </a:cubicBezTo>
                  <a:cubicBezTo>
                    <a:pt x="1271" y="283225"/>
                    <a:pt x="0" y="280155"/>
                    <a:pt x="0" y="276955"/>
                  </a:cubicBezTo>
                  <a:lnTo>
                    <a:pt x="0" y="12067"/>
                  </a:lnTo>
                  <a:cubicBezTo>
                    <a:pt x="0" y="8867"/>
                    <a:pt x="1271" y="5798"/>
                    <a:pt x="3534" y="3534"/>
                  </a:cubicBezTo>
                  <a:cubicBezTo>
                    <a:pt x="5798" y="1271"/>
                    <a:pt x="8867" y="0"/>
                    <a:pt x="12067" y="0"/>
                  </a:cubicBezTo>
                  <a:close/>
                </a:path>
              </a:pathLst>
            </a:custGeom>
            <a:solidFill>
              <a:srgbClr val="FFDE59">
                <a:alpha val="78824"/>
              </a:srgbClr>
            </a:solidFill>
            <a:ln w="28575" cap="sq">
              <a:solidFill>
                <a:srgbClr val="FFDE59">
                  <a:alpha val="78824"/>
                </a:srgbClr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31689" cy="32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139576" y="8555358"/>
            <a:ext cx="5361767" cy="1249728"/>
            <a:chOff x="0" y="0"/>
            <a:chExt cx="1045135" cy="24360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5135" cy="243602"/>
            </a:xfrm>
            <a:custGeom>
              <a:avLst/>
              <a:gdLst/>
              <a:ahLst/>
              <a:cxnLst/>
              <a:rect r="r" b="b" t="t" l="l"/>
              <a:pathLst>
                <a:path h="243602" w="1045135">
                  <a:moveTo>
                    <a:pt x="28201" y="0"/>
                  </a:moveTo>
                  <a:lnTo>
                    <a:pt x="1016934" y="0"/>
                  </a:lnTo>
                  <a:cubicBezTo>
                    <a:pt x="1032509" y="0"/>
                    <a:pt x="1045135" y="12626"/>
                    <a:pt x="1045135" y="28201"/>
                  </a:cubicBezTo>
                  <a:lnTo>
                    <a:pt x="1045135" y="215400"/>
                  </a:lnTo>
                  <a:cubicBezTo>
                    <a:pt x="1045135" y="230975"/>
                    <a:pt x="1032509" y="243602"/>
                    <a:pt x="1016934" y="243602"/>
                  </a:cubicBezTo>
                  <a:lnTo>
                    <a:pt x="28201" y="243602"/>
                  </a:lnTo>
                  <a:cubicBezTo>
                    <a:pt x="20722" y="243602"/>
                    <a:pt x="13549" y="240630"/>
                    <a:pt x="8260" y="235342"/>
                  </a:cubicBezTo>
                  <a:cubicBezTo>
                    <a:pt x="2971" y="230053"/>
                    <a:pt x="0" y="222880"/>
                    <a:pt x="0" y="215400"/>
                  </a:cubicBezTo>
                  <a:lnTo>
                    <a:pt x="0" y="28201"/>
                  </a:lnTo>
                  <a:cubicBezTo>
                    <a:pt x="0" y="12626"/>
                    <a:pt x="12626" y="0"/>
                    <a:pt x="28201" y="0"/>
                  </a:cubicBezTo>
                  <a:close/>
                </a:path>
              </a:pathLst>
            </a:custGeom>
            <a:solidFill>
              <a:srgbClr val="FF66C4">
                <a:alpha val="12941"/>
              </a:srgbClr>
            </a:solidFill>
            <a:ln w="85725" cap="rnd">
              <a:solidFill>
                <a:srgbClr val="000000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45135" cy="281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7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292600" y="7782871"/>
            <a:ext cx="6342026" cy="2313446"/>
            <a:chOff x="0" y="0"/>
            <a:chExt cx="1101811" cy="4019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1811" cy="401919"/>
            </a:xfrm>
            <a:custGeom>
              <a:avLst/>
              <a:gdLst/>
              <a:ahLst/>
              <a:cxnLst/>
              <a:rect r="r" b="b" t="t" l="l"/>
              <a:pathLst>
                <a:path h="401919" w="1101811">
                  <a:moveTo>
                    <a:pt x="23842" y="0"/>
                  </a:moveTo>
                  <a:lnTo>
                    <a:pt x="1077969" y="0"/>
                  </a:lnTo>
                  <a:cubicBezTo>
                    <a:pt x="1091136" y="0"/>
                    <a:pt x="1101811" y="10675"/>
                    <a:pt x="1101811" y="23842"/>
                  </a:cubicBezTo>
                  <a:lnTo>
                    <a:pt x="1101811" y="378076"/>
                  </a:lnTo>
                  <a:cubicBezTo>
                    <a:pt x="1101811" y="384400"/>
                    <a:pt x="1099299" y="390464"/>
                    <a:pt x="1094828" y="394936"/>
                  </a:cubicBezTo>
                  <a:cubicBezTo>
                    <a:pt x="1090356" y="399407"/>
                    <a:pt x="1084292" y="401919"/>
                    <a:pt x="1077969" y="401919"/>
                  </a:cubicBezTo>
                  <a:lnTo>
                    <a:pt x="23842" y="401919"/>
                  </a:lnTo>
                  <a:cubicBezTo>
                    <a:pt x="10675" y="401919"/>
                    <a:pt x="0" y="391244"/>
                    <a:pt x="0" y="378076"/>
                  </a:cubicBezTo>
                  <a:lnTo>
                    <a:pt x="0" y="23842"/>
                  </a:lnTo>
                  <a:cubicBezTo>
                    <a:pt x="0" y="10675"/>
                    <a:pt x="10675" y="0"/>
                    <a:pt x="23842" y="0"/>
                  </a:cubicBezTo>
                  <a:close/>
                </a:path>
              </a:pathLst>
            </a:custGeom>
            <a:solidFill>
              <a:srgbClr val="0097B2">
                <a:alpha val="12941"/>
              </a:srgbClr>
            </a:solidFill>
            <a:ln w="57150" cap="rnd">
              <a:solidFill>
                <a:srgbClr val="000000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101811" cy="440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7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495006" y="8232269"/>
            <a:ext cx="1798049" cy="1665443"/>
            <a:chOff x="0" y="0"/>
            <a:chExt cx="309868" cy="28701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09868" cy="287015"/>
            </a:xfrm>
            <a:custGeom>
              <a:avLst/>
              <a:gdLst/>
              <a:ahLst/>
              <a:cxnLst/>
              <a:rect r="r" b="b" t="t" l="l"/>
              <a:pathLst>
                <a:path h="287015" w="309868">
                  <a:moveTo>
                    <a:pt x="12917" y="0"/>
                  </a:moveTo>
                  <a:lnTo>
                    <a:pt x="296951" y="0"/>
                  </a:lnTo>
                  <a:cubicBezTo>
                    <a:pt x="304085" y="0"/>
                    <a:pt x="309868" y="5783"/>
                    <a:pt x="309868" y="12917"/>
                  </a:cubicBezTo>
                  <a:lnTo>
                    <a:pt x="309868" y="274098"/>
                  </a:lnTo>
                  <a:cubicBezTo>
                    <a:pt x="309868" y="277524"/>
                    <a:pt x="308507" y="280810"/>
                    <a:pt x="306085" y="283232"/>
                  </a:cubicBezTo>
                  <a:cubicBezTo>
                    <a:pt x="303662" y="285654"/>
                    <a:pt x="300377" y="287015"/>
                    <a:pt x="296951" y="287015"/>
                  </a:cubicBezTo>
                  <a:lnTo>
                    <a:pt x="12917" y="287015"/>
                  </a:lnTo>
                  <a:cubicBezTo>
                    <a:pt x="5783" y="287015"/>
                    <a:pt x="0" y="281232"/>
                    <a:pt x="0" y="274098"/>
                  </a:cubicBezTo>
                  <a:lnTo>
                    <a:pt x="0" y="12917"/>
                  </a:lnTo>
                  <a:cubicBezTo>
                    <a:pt x="0" y="9491"/>
                    <a:pt x="1361" y="6206"/>
                    <a:pt x="3783" y="3783"/>
                  </a:cubicBezTo>
                  <a:cubicBezTo>
                    <a:pt x="6206" y="1361"/>
                    <a:pt x="9491" y="0"/>
                    <a:pt x="12917" y="0"/>
                  </a:cubicBezTo>
                  <a:close/>
                </a:path>
              </a:pathLst>
            </a:custGeom>
            <a:solidFill>
              <a:srgbClr val="5CE1E6">
                <a:alpha val="50980"/>
              </a:srgbClr>
            </a:solidFill>
            <a:ln w="28575" cap="sq">
              <a:solidFill>
                <a:srgbClr val="0097B2">
                  <a:alpha val="50980"/>
                </a:srgbClr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09868" cy="325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01998" y="8220624"/>
            <a:ext cx="1832636" cy="1677088"/>
            <a:chOff x="0" y="0"/>
            <a:chExt cx="315829" cy="28902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5829" cy="289022"/>
            </a:xfrm>
            <a:custGeom>
              <a:avLst/>
              <a:gdLst/>
              <a:ahLst/>
              <a:cxnLst/>
              <a:rect r="r" b="b" t="t" l="l"/>
              <a:pathLst>
                <a:path h="289022" w="315829">
                  <a:moveTo>
                    <a:pt x="12673" y="0"/>
                  </a:moveTo>
                  <a:lnTo>
                    <a:pt x="303155" y="0"/>
                  </a:lnTo>
                  <a:cubicBezTo>
                    <a:pt x="306517" y="0"/>
                    <a:pt x="309740" y="1335"/>
                    <a:pt x="312117" y="3712"/>
                  </a:cubicBezTo>
                  <a:cubicBezTo>
                    <a:pt x="314493" y="6089"/>
                    <a:pt x="315829" y="9312"/>
                    <a:pt x="315829" y="12673"/>
                  </a:cubicBezTo>
                  <a:lnTo>
                    <a:pt x="315829" y="276349"/>
                  </a:lnTo>
                  <a:cubicBezTo>
                    <a:pt x="315829" y="279710"/>
                    <a:pt x="314493" y="282934"/>
                    <a:pt x="312117" y="285310"/>
                  </a:cubicBezTo>
                  <a:cubicBezTo>
                    <a:pt x="309740" y="287687"/>
                    <a:pt x="306517" y="289022"/>
                    <a:pt x="303155" y="289022"/>
                  </a:cubicBezTo>
                  <a:lnTo>
                    <a:pt x="12673" y="289022"/>
                  </a:lnTo>
                  <a:cubicBezTo>
                    <a:pt x="9312" y="289022"/>
                    <a:pt x="6089" y="287687"/>
                    <a:pt x="3712" y="285310"/>
                  </a:cubicBezTo>
                  <a:cubicBezTo>
                    <a:pt x="1335" y="282934"/>
                    <a:pt x="0" y="279710"/>
                    <a:pt x="0" y="276349"/>
                  </a:cubicBezTo>
                  <a:lnTo>
                    <a:pt x="0" y="12673"/>
                  </a:lnTo>
                  <a:cubicBezTo>
                    <a:pt x="0" y="9312"/>
                    <a:pt x="1335" y="6089"/>
                    <a:pt x="3712" y="3712"/>
                  </a:cubicBezTo>
                  <a:cubicBezTo>
                    <a:pt x="6089" y="1335"/>
                    <a:pt x="9312" y="0"/>
                    <a:pt x="12673" y="0"/>
                  </a:cubicBezTo>
                  <a:close/>
                </a:path>
              </a:pathLst>
            </a:custGeom>
            <a:solidFill>
              <a:srgbClr val="5CE1E6">
                <a:alpha val="43922"/>
              </a:srgbClr>
            </a:solidFill>
            <a:ln w="28575" cap="sq">
              <a:solidFill>
                <a:srgbClr val="0097B2">
                  <a:alpha val="43922"/>
                </a:srgbClr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15829" cy="32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307936" y="8220624"/>
            <a:ext cx="2148184" cy="1677088"/>
            <a:chOff x="0" y="0"/>
            <a:chExt cx="370209" cy="28902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70209" cy="289022"/>
            </a:xfrm>
            <a:custGeom>
              <a:avLst/>
              <a:gdLst/>
              <a:ahLst/>
              <a:cxnLst/>
              <a:rect r="r" b="b" t="t" l="l"/>
              <a:pathLst>
                <a:path h="289022" w="370209">
                  <a:moveTo>
                    <a:pt x="10812" y="0"/>
                  </a:moveTo>
                  <a:lnTo>
                    <a:pt x="359397" y="0"/>
                  </a:lnTo>
                  <a:cubicBezTo>
                    <a:pt x="365368" y="0"/>
                    <a:pt x="370209" y="4841"/>
                    <a:pt x="370209" y="10812"/>
                  </a:cubicBezTo>
                  <a:lnTo>
                    <a:pt x="370209" y="278210"/>
                  </a:lnTo>
                  <a:cubicBezTo>
                    <a:pt x="370209" y="284182"/>
                    <a:pt x="365368" y="289022"/>
                    <a:pt x="359397" y="289022"/>
                  </a:cubicBezTo>
                  <a:lnTo>
                    <a:pt x="10812" y="289022"/>
                  </a:lnTo>
                  <a:cubicBezTo>
                    <a:pt x="7944" y="289022"/>
                    <a:pt x="5194" y="287883"/>
                    <a:pt x="3167" y="285855"/>
                  </a:cubicBezTo>
                  <a:cubicBezTo>
                    <a:pt x="1139" y="283828"/>
                    <a:pt x="0" y="281078"/>
                    <a:pt x="0" y="278210"/>
                  </a:cubicBezTo>
                  <a:lnTo>
                    <a:pt x="0" y="10812"/>
                  </a:lnTo>
                  <a:cubicBezTo>
                    <a:pt x="0" y="4841"/>
                    <a:pt x="4841" y="0"/>
                    <a:pt x="10812" y="0"/>
                  </a:cubicBezTo>
                  <a:close/>
                </a:path>
              </a:pathLst>
            </a:custGeom>
            <a:solidFill>
              <a:srgbClr val="5CE1E6">
                <a:alpha val="36863"/>
              </a:srgbClr>
            </a:solidFill>
            <a:ln w="28575" cap="sq">
              <a:solidFill>
                <a:srgbClr val="0097B2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70209" cy="32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65474" y="8349227"/>
            <a:ext cx="3286324" cy="1831992"/>
            <a:chOff x="0" y="0"/>
            <a:chExt cx="570939" cy="31827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70939" cy="318275"/>
            </a:xfrm>
            <a:custGeom>
              <a:avLst/>
              <a:gdLst/>
              <a:ahLst/>
              <a:cxnLst/>
              <a:rect r="r" b="b" t="t" l="l"/>
              <a:pathLst>
                <a:path h="318275" w="570939">
                  <a:moveTo>
                    <a:pt x="46012" y="0"/>
                  </a:moveTo>
                  <a:lnTo>
                    <a:pt x="524927" y="0"/>
                  </a:lnTo>
                  <a:cubicBezTo>
                    <a:pt x="550339" y="0"/>
                    <a:pt x="570939" y="20600"/>
                    <a:pt x="570939" y="46012"/>
                  </a:cubicBezTo>
                  <a:lnTo>
                    <a:pt x="570939" y="272263"/>
                  </a:lnTo>
                  <a:cubicBezTo>
                    <a:pt x="570939" y="284466"/>
                    <a:pt x="566091" y="296170"/>
                    <a:pt x="557462" y="304799"/>
                  </a:cubicBezTo>
                  <a:cubicBezTo>
                    <a:pt x="548833" y="313427"/>
                    <a:pt x="537130" y="318275"/>
                    <a:pt x="524927" y="318275"/>
                  </a:cubicBezTo>
                  <a:lnTo>
                    <a:pt x="46012" y="318275"/>
                  </a:lnTo>
                  <a:cubicBezTo>
                    <a:pt x="33809" y="318275"/>
                    <a:pt x="22105" y="313427"/>
                    <a:pt x="13477" y="304799"/>
                  </a:cubicBezTo>
                  <a:cubicBezTo>
                    <a:pt x="4848" y="296170"/>
                    <a:pt x="0" y="284466"/>
                    <a:pt x="0" y="272263"/>
                  </a:cubicBezTo>
                  <a:lnTo>
                    <a:pt x="0" y="46012"/>
                  </a:lnTo>
                  <a:cubicBezTo>
                    <a:pt x="0" y="33809"/>
                    <a:pt x="4848" y="22105"/>
                    <a:pt x="13477" y="13477"/>
                  </a:cubicBezTo>
                  <a:cubicBezTo>
                    <a:pt x="22105" y="4848"/>
                    <a:pt x="33809" y="0"/>
                    <a:pt x="46012" y="0"/>
                  </a:cubicBezTo>
                  <a:close/>
                </a:path>
              </a:pathLst>
            </a:custGeom>
            <a:solidFill>
              <a:srgbClr val="159C00">
                <a:alpha val="18824"/>
              </a:srgbClr>
            </a:solidFill>
            <a:ln w="95250" cap="rnd">
              <a:solidFill>
                <a:srgbClr val="004AAD">
                  <a:alpha val="18824"/>
                </a:srgbClr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70939" cy="356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7"/>
                </a:lnSpc>
              </a:pPr>
            </a:p>
          </p:txBody>
        </p:sp>
      </p:grpSp>
      <p:sp>
        <p:nvSpPr>
          <p:cNvPr name="AutoShape 75" id="75"/>
          <p:cNvSpPr/>
          <p:nvPr/>
        </p:nvSpPr>
        <p:spPr>
          <a:xfrm>
            <a:off x="3815500" y="2121579"/>
            <a:ext cx="538667" cy="157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6" id="76"/>
          <p:cNvSpPr/>
          <p:nvPr/>
        </p:nvSpPr>
        <p:spPr>
          <a:xfrm>
            <a:off x="8891257" y="2049432"/>
            <a:ext cx="3471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7" id="77"/>
          <p:cNvSpPr/>
          <p:nvPr/>
        </p:nvSpPr>
        <p:spPr>
          <a:xfrm flipV="true">
            <a:off x="12893508" y="2010734"/>
            <a:ext cx="909858" cy="386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8" id="78"/>
          <p:cNvSpPr txBox="true"/>
          <p:nvPr/>
        </p:nvSpPr>
        <p:spPr>
          <a:xfrm rot="0">
            <a:off x="1325857" y="1590383"/>
            <a:ext cx="1505283" cy="31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  <a:spcBef>
                <a:spcPct val="0"/>
              </a:spcBef>
            </a:pPr>
            <a:r>
              <a:rPr lang="en-US" b="true" sz="1835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Chart Image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56687" y="6575021"/>
            <a:ext cx="1119902" cy="24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3"/>
              </a:lnSpc>
              <a:spcBef>
                <a:spcPct val="0"/>
              </a:spcBef>
            </a:pPr>
            <a:r>
              <a:rPr lang="en-US" b="true" sz="1487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Ground Truth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511208" y="5459522"/>
            <a:ext cx="751642" cy="24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3"/>
              </a:lnSpc>
              <a:spcBef>
                <a:spcPct val="0"/>
              </a:spcBef>
            </a:pPr>
            <a:r>
              <a:rPr lang="en-US" b="true" sz="1487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Question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65147" y="1206030"/>
            <a:ext cx="1026705" cy="33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031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1.INPUT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744871" y="1328161"/>
            <a:ext cx="3775916" cy="69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7"/>
              </a:lnSpc>
            </a:pPr>
            <a:r>
              <a:rPr lang="en-US" sz="2033" b="true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2.MULTI RESPONSE GENERATION</a:t>
            </a:r>
          </a:p>
          <a:p>
            <a:pPr algn="ctr">
              <a:lnSpc>
                <a:spcPts val="2847"/>
              </a:lnSpc>
            </a:pPr>
            <a:r>
              <a:rPr lang="en-US" b="true" sz="20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(K=8)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833664" y="3913719"/>
            <a:ext cx="3863137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R2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905434" y="4290536"/>
            <a:ext cx="3863137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902910" y="4703020"/>
            <a:ext cx="3863137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905434" y="4509685"/>
            <a:ext cx="3863137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902910" y="4939780"/>
            <a:ext cx="3863137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831141" y="5308696"/>
            <a:ext cx="3863137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R8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069376" y="2608049"/>
            <a:ext cx="3815565" cy="110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Type : bar Table: {2020:100, 2021:150}</a:t>
            </a:r>
          </a:p>
          <a:p>
            <a:pPr algn="l">
              <a:lnSpc>
                <a:spcPts val="2147"/>
              </a:lnSpc>
            </a:pPr>
            <a:r>
              <a:rPr lang="en-US" sz="15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 Reasoning: 100 + 150 = 250 </a:t>
            </a:r>
          </a:p>
          <a:p>
            <a:pPr algn="l">
              <a:lnSpc>
                <a:spcPts val="2147"/>
              </a:lnSpc>
            </a:pPr>
            <a:r>
              <a:rPr lang="en-US" sz="15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 Answer: </a:t>
            </a:r>
            <a:r>
              <a:rPr lang="en-US" sz="1533" b="true">
                <a:solidFill>
                  <a:srgbClr val="159C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250</a:t>
            </a:r>
          </a:p>
          <a:p>
            <a:pPr algn="l">
              <a:lnSpc>
                <a:spcPts val="2567"/>
              </a:lnSpc>
              <a:spcBef>
                <a:spcPct val="0"/>
              </a:spcBef>
            </a:pPr>
          </a:p>
        </p:txBody>
      </p:sp>
      <p:sp>
        <p:nvSpPr>
          <p:cNvPr name="TextBox 90" id="90"/>
          <p:cNvSpPr txBox="true"/>
          <p:nvPr/>
        </p:nvSpPr>
        <p:spPr>
          <a:xfrm rot="0">
            <a:off x="5035192" y="3725252"/>
            <a:ext cx="3293745" cy="110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Type : </a:t>
            </a:r>
            <a:r>
              <a:rPr lang="en-US" sz="1533" b="true">
                <a:solidFill>
                  <a:srgbClr val="FF3131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Pie </a:t>
            </a:r>
            <a:r>
              <a:rPr lang="en-US" sz="15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Table : {2020:100, 2021:150}</a:t>
            </a:r>
          </a:p>
          <a:p>
            <a:pPr algn="l">
              <a:lnSpc>
                <a:spcPts val="2147"/>
              </a:lnSpc>
            </a:pPr>
            <a:r>
              <a:rPr lang="en-US" sz="15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 Reasoning: Sum two numbers → </a:t>
            </a:r>
            <a:r>
              <a:rPr lang="en-US" sz="1533" b="true">
                <a:solidFill>
                  <a:srgbClr val="FF3131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240</a:t>
            </a:r>
          </a:p>
          <a:p>
            <a:pPr algn="l">
              <a:lnSpc>
                <a:spcPts val="2147"/>
              </a:lnSpc>
            </a:pPr>
            <a:r>
              <a:rPr lang="en-US" sz="153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 Answer: </a:t>
            </a:r>
            <a:r>
              <a:rPr lang="en-US" sz="1533" b="true">
                <a:solidFill>
                  <a:srgbClr val="DB413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240</a:t>
            </a:r>
          </a:p>
          <a:p>
            <a:pPr algn="l">
              <a:lnSpc>
                <a:spcPts val="2567"/>
              </a:lnSpc>
              <a:spcBef>
                <a:spcPct val="0"/>
              </a:spcBef>
            </a:pPr>
          </a:p>
        </p:txBody>
      </p:sp>
      <p:sp>
        <p:nvSpPr>
          <p:cNvPr name="TextBox 91" id="91"/>
          <p:cNvSpPr txBox="true"/>
          <p:nvPr/>
        </p:nvSpPr>
        <p:spPr>
          <a:xfrm rot="0">
            <a:off x="5061093" y="5027584"/>
            <a:ext cx="3141940" cy="111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1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Type : bar Table : </a:t>
            </a:r>
            <a:r>
              <a:rPr lang="en-US" sz="1501" b="true">
                <a:solidFill>
                  <a:srgbClr val="FF3131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{2020:95, 2021:155}</a:t>
            </a:r>
          </a:p>
          <a:p>
            <a:pPr algn="l">
              <a:lnSpc>
                <a:spcPts val="2101"/>
              </a:lnSpc>
            </a:pPr>
            <a:r>
              <a:rPr lang="en-US" sz="1501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Reasoning: 95 + 155 = 250 </a:t>
            </a:r>
          </a:p>
          <a:p>
            <a:pPr algn="l">
              <a:lnSpc>
                <a:spcPts val="2101"/>
              </a:lnSpc>
            </a:pPr>
            <a:r>
              <a:rPr lang="en-US" sz="1501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 Answer: </a:t>
            </a:r>
            <a:r>
              <a:rPr lang="en-US" sz="1501" b="true">
                <a:solidFill>
                  <a:srgbClr val="159C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250</a:t>
            </a:r>
          </a:p>
          <a:p>
            <a:pPr algn="l">
              <a:lnSpc>
                <a:spcPts val="2688"/>
              </a:lnSpc>
              <a:spcBef>
                <a:spcPct val="0"/>
              </a:spcBef>
            </a:pPr>
          </a:p>
        </p:txBody>
      </p:sp>
      <p:sp>
        <p:nvSpPr>
          <p:cNvPr name="TextBox 92" id="92"/>
          <p:cNvSpPr txBox="true"/>
          <p:nvPr/>
        </p:nvSpPr>
        <p:spPr>
          <a:xfrm rot="0">
            <a:off x="9413972" y="1382747"/>
            <a:ext cx="3351328" cy="33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  <a:spcBef>
                <a:spcPct val="0"/>
              </a:spcBef>
            </a:pPr>
            <a:r>
              <a:rPr lang="en-US" b="true" sz="20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3.PARSE EACH RESPONSE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5058736" y="1220871"/>
            <a:ext cx="971431" cy="3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029" b="true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4.FILTER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5436727" y="5423482"/>
            <a:ext cx="628650" cy="33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  <a:spcBef>
                <a:spcPct val="0"/>
              </a:spcBef>
            </a:pPr>
            <a:r>
              <a:rPr lang="en-US" b="true" sz="20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HCPC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152410" y="4050552"/>
            <a:ext cx="380643" cy="30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  <a:spcBef>
                <a:spcPct val="0"/>
              </a:spcBef>
            </a:pPr>
            <a:r>
              <a:rPr lang="en-US" b="true" sz="1820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CLC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050742" y="5879657"/>
            <a:ext cx="1769315" cy="27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  <a:spcBef>
                <a:spcPct val="0"/>
              </a:spcBef>
            </a:pPr>
            <a:r>
              <a:rPr lang="en-US" b="true" sz="1633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Table Consistency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5940043" y="5893772"/>
            <a:ext cx="1880998" cy="27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  <a:spcBef>
                <a:spcPct val="0"/>
              </a:spcBef>
            </a:pPr>
            <a:r>
              <a:rPr lang="en-US" b="true" sz="1633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Reasoning Diversity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4099796" y="6514299"/>
            <a:ext cx="1720261" cy="49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  <a:spcBef>
                <a:spcPct val="0"/>
              </a:spcBef>
            </a:pPr>
            <a:r>
              <a:rPr lang="en-US" b="true" sz="14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All FC have accurate table data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6050104" y="6475633"/>
            <a:ext cx="1687662" cy="49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  <a:spcBef>
                <a:spcPct val="0"/>
              </a:spcBef>
            </a:pPr>
            <a:r>
              <a:rPr lang="en-US" b="true" sz="14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Distinct reasoning among FC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531242" y="7087503"/>
            <a:ext cx="808315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159C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Score: x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6454614" y="7087503"/>
            <a:ext cx="809982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CB6CE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Score: y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398515" y="7725183"/>
            <a:ext cx="4118150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HCPC Score : w</a:t>
            </a: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</a:t>
            </a: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. x.0 + w</a:t>
            </a: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3</a:t>
            </a: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 . y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089636" y="4361906"/>
            <a:ext cx="2370829" cy="25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5"/>
              </a:lnSpc>
              <a:spcBef>
                <a:spcPct val="0"/>
              </a:spcBef>
            </a:pPr>
            <a:r>
              <a:rPr lang="en-US" b="true" sz="146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For each Rollouts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309843" y="4582845"/>
            <a:ext cx="2150623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054" indent="-156527" lvl="1">
              <a:lnSpc>
                <a:spcPts val="2029"/>
              </a:lnSpc>
              <a:buFont typeface="Arial"/>
              <a:buChar char="•"/>
            </a:pPr>
            <a:r>
              <a:rPr lang="en-US" b="true" sz="1449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All referenced value appear in the table</a:t>
            </a:r>
          </a:p>
          <a:p>
            <a:pPr algn="l" marL="313054" indent="-156527" lvl="1">
              <a:lnSpc>
                <a:spcPts val="2029"/>
              </a:lnSpc>
              <a:buFont typeface="Arial"/>
              <a:buChar char="•"/>
            </a:pPr>
            <a:r>
              <a:rPr lang="en-US" b="true" sz="1449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 hallucination numbers</a:t>
            </a:r>
          </a:p>
          <a:p>
            <a:pPr algn="l" marL="313054" indent="-156527" lvl="1">
              <a:lnSpc>
                <a:spcPts val="2029"/>
              </a:lnSpc>
              <a:buFont typeface="Arial"/>
              <a:buChar char="•"/>
            </a:pPr>
            <a:r>
              <a:rPr lang="en-US" b="true" sz="1449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Logical Coherence maintained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879483" y="8762460"/>
            <a:ext cx="3840279" cy="34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2"/>
              </a:lnSpc>
              <a:spcBef>
                <a:spcPct val="0"/>
              </a:spcBef>
            </a:pPr>
            <a:r>
              <a:rPr lang="en-US" b="true" sz="207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5.REWARD AGGREGATION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3108981" y="9211650"/>
            <a:ext cx="3701891" cy="31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  <a:spcBef>
                <a:spcPct val="0"/>
              </a:spcBef>
            </a:pPr>
            <a:r>
              <a:rPr lang="en-US" b="true" sz="186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R_total = R_base + λ₁·HCPC + λ₂·CLC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6266050" y="7811446"/>
            <a:ext cx="1990606" cy="33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  <a:spcBef>
                <a:spcPct val="0"/>
              </a:spcBef>
            </a:pPr>
            <a:r>
              <a:rPr lang="en-US" b="true" sz="20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6.POLICY UPDATE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4597321" y="8242685"/>
            <a:ext cx="1769315" cy="27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  <a:spcBef>
                <a:spcPct val="0"/>
              </a:spcBef>
            </a:pPr>
            <a:r>
              <a:rPr lang="en-US" b="true" sz="1633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GRPO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376696" y="8242685"/>
            <a:ext cx="1769315" cy="27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  <a:spcBef>
                <a:spcPct val="0"/>
              </a:spcBef>
            </a:pPr>
            <a:r>
              <a:rPr lang="en-US" b="true" sz="1633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NSR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405556" y="8295629"/>
            <a:ext cx="1880998" cy="27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  <a:spcBef>
                <a:spcPct val="0"/>
              </a:spcBef>
            </a:pPr>
            <a:r>
              <a:rPr lang="en-US" b="true" sz="1633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W- REINFORCE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605537" y="8736616"/>
            <a:ext cx="1720261" cy="78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  <a:spcBef>
                <a:spcPct val="0"/>
              </a:spcBef>
            </a:pPr>
            <a:r>
              <a:rPr lang="en-US" b="true" sz="15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Strong boost for high reward, penalize low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6458185" y="8782154"/>
            <a:ext cx="1720261" cy="78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  <a:spcBef>
                <a:spcPct val="0"/>
              </a:spcBef>
            </a:pPr>
            <a:r>
              <a:rPr lang="en-US" b="true" sz="15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Skip correct samples, penalize wrong ones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8405556" y="8947339"/>
            <a:ext cx="1878605" cy="52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  <a:spcBef>
                <a:spcPct val="0"/>
              </a:spcBef>
            </a:pPr>
            <a:r>
              <a:rPr lang="en-US" b="true" sz="15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Weak boost(λ = 0.1) , strong penalize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658006" y="8554905"/>
            <a:ext cx="3093792" cy="34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b="true" sz="1933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7.FINAL PREDICTION</a:t>
            </a:r>
          </a:p>
        </p:txBody>
      </p:sp>
      <p:sp>
        <p:nvSpPr>
          <p:cNvPr name="AutoShape 115" id="115"/>
          <p:cNvSpPr/>
          <p:nvPr/>
        </p:nvSpPr>
        <p:spPr>
          <a:xfrm flipH="true">
            <a:off x="15192854" y="4158421"/>
            <a:ext cx="577712" cy="10859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6" id="116"/>
          <p:cNvSpPr/>
          <p:nvPr/>
        </p:nvSpPr>
        <p:spPr>
          <a:xfrm flipH="true">
            <a:off x="15058736" y="8290425"/>
            <a:ext cx="550916" cy="2649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7" id="117"/>
          <p:cNvSpPr/>
          <p:nvPr/>
        </p:nvSpPr>
        <p:spPr>
          <a:xfrm flipH="true" flipV="true">
            <a:off x="10634626" y="8939594"/>
            <a:ext cx="1504950" cy="1634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8" id="118"/>
          <p:cNvSpPr/>
          <p:nvPr/>
        </p:nvSpPr>
        <p:spPr>
          <a:xfrm flipH="true" flipV="true">
            <a:off x="4354167" y="4445717"/>
            <a:ext cx="1888637" cy="333715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119" id="119"/>
          <p:cNvSpPr txBox="true"/>
          <p:nvPr/>
        </p:nvSpPr>
        <p:spPr>
          <a:xfrm rot="0">
            <a:off x="3687417" y="7188104"/>
            <a:ext cx="2660953" cy="21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b="true" sz="1333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Iterate over epochs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732345" y="9030473"/>
            <a:ext cx="2752580" cy="922786"/>
            <a:chOff x="0" y="0"/>
            <a:chExt cx="474368" cy="15902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74368" cy="159029"/>
            </a:xfrm>
            <a:custGeom>
              <a:avLst/>
              <a:gdLst/>
              <a:ahLst/>
              <a:cxnLst/>
              <a:rect r="r" b="b" t="t" l="l"/>
              <a:pathLst>
                <a:path h="159029" w="474368">
                  <a:moveTo>
                    <a:pt x="8438" y="0"/>
                  </a:moveTo>
                  <a:lnTo>
                    <a:pt x="465930" y="0"/>
                  </a:lnTo>
                  <a:cubicBezTo>
                    <a:pt x="468168" y="0"/>
                    <a:pt x="470314" y="889"/>
                    <a:pt x="471897" y="2471"/>
                  </a:cubicBezTo>
                  <a:cubicBezTo>
                    <a:pt x="473479" y="4054"/>
                    <a:pt x="474368" y="6200"/>
                    <a:pt x="474368" y="8438"/>
                  </a:cubicBezTo>
                  <a:lnTo>
                    <a:pt x="474368" y="150591"/>
                  </a:lnTo>
                  <a:cubicBezTo>
                    <a:pt x="474368" y="152829"/>
                    <a:pt x="473479" y="154975"/>
                    <a:pt x="471897" y="156558"/>
                  </a:cubicBezTo>
                  <a:cubicBezTo>
                    <a:pt x="470314" y="158140"/>
                    <a:pt x="468168" y="159029"/>
                    <a:pt x="465930" y="159029"/>
                  </a:cubicBezTo>
                  <a:lnTo>
                    <a:pt x="8438" y="159029"/>
                  </a:lnTo>
                  <a:cubicBezTo>
                    <a:pt x="6200" y="159029"/>
                    <a:pt x="4054" y="158140"/>
                    <a:pt x="2471" y="156558"/>
                  </a:cubicBezTo>
                  <a:cubicBezTo>
                    <a:pt x="889" y="154975"/>
                    <a:pt x="0" y="152829"/>
                    <a:pt x="0" y="150591"/>
                  </a:cubicBezTo>
                  <a:lnTo>
                    <a:pt x="0" y="8438"/>
                  </a:lnTo>
                  <a:cubicBezTo>
                    <a:pt x="0" y="6200"/>
                    <a:pt x="889" y="4054"/>
                    <a:pt x="2471" y="2471"/>
                  </a:cubicBezTo>
                  <a:cubicBezTo>
                    <a:pt x="4054" y="889"/>
                    <a:pt x="6200" y="0"/>
                    <a:pt x="8438" y="0"/>
                  </a:cubicBezTo>
                  <a:close/>
                </a:path>
              </a:pathLst>
            </a:custGeom>
            <a:solidFill>
              <a:srgbClr val="159C00">
                <a:alpha val="58824"/>
              </a:srgbClr>
            </a:solidFill>
            <a:ln w="28575" cap="sq">
              <a:solidFill>
                <a:srgbClr val="159C00">
                  <a:alpha val="58824"/>
                </a:srgbClr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474368" cy="197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732345" y="9315132"/>
            <a:ext cx="2752580" cy="31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7"/>
              </a:lnSpc>
              <a:spcBef>
                <a:spcPct val="0"/>
              </a:spcBef>
            </a:pPr>
            <a:r>
              <a:rPr lang="en-US" b="true" sz="183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Total Sales = 250</a:t>
            </a:r>
          </a:p>
        </p:txBody>
      </p:sp>
      <p:sp>
        <p:nvSpPr>
          <p:cNvPr name="AutoShape 124" id="124"/>
          <p:cNvSpPr/>
          <p:nvPr/>
        </p:nvSpPr>
        <p:spPr>
          <a:xfrm flipH="true">
            <a:off x="3751798" y="8939594"/>
            <a:ext cx="540802" cy="3256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5" id="125"/>
          <p:cNvGrpSpPr/>
          <p:nvPr/>
        </p:nvGrpSpPr>
        <p:grpSpPr>
          <a:xfrm rot="0">
            <a:off x="8962917" y="4618380"/>
            <a:ext cx="1972588" cy="1673000"/>
            <a:chOff x="0" y="0"/>
            <a:chExt cx="553309" cy="46927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53309" cy="469275"/>
            </a:xfrm>
            <a:custGeom>
              <a:avLst/>
              <a:gdLst/>
              <a:ahLst/>
              <a:cxnLst/>
              <a:rect r="r" b="b" t="t" l="l"/>
              <a:pathLst>
                <a:path h="469275" w="553309">
                  <a:moveTo>
                    <a:pt x="76655" y="0"/>
                  </a:moveTo>
                  <a:lnTo>
                    <a:pt x="476654" y="0"/>
                  </a:lnTo>
                  <a:cubicBezTo>
                    <a:pt x="518990" y="0"/>
                    <a:pt x="553309" y="34320"/>
                    <a:pt x="553309" y="76655"/>
                  </a:cubicBezTo>
                  <a:lnTo>
                    <a:pt x="553309" y="392620"/>
                  </a:lnTo>
                  <a:cubicBezTo>
                    <a:pt x="553309" y="412950"/>
                    <a:pt x="545233" y="432448"/>
                    <a:pt x="530858" y="446823"/>
                  </a:cubicBezTo>
                  <a:cubicBezTo>
                    <a:pt x="516482" y="461199"/>
                    <a:pt x="496984" y="469275"/>
                    <a:pt x="476654" y="469275"/>
                  </a:cubicBezTo>
                  <a:lnTo>
                    <a:pt x="76655" y="469275"/>
                  </a:lnTo>
                  <a:cubicBezTo>
                    <a:pt x="34320" y="469275"/>
                    <a:pt x="0" y="434955"/>
                    <a:pt x="0" y="392620"/>
                  </a:cubicBezTo>
                  <a:lnTo>
                    <a:pt x="0" y="76655"/>
                  </a:lnTo>
                  <a:cubicBezTo>
                    <a:pt x="0" y="34320"/>
                    <a:pt x="34320" y="0"/>
                    <a:pt x="76655" y="0"/>
                  </a:cubicBezTo>
                  <a:close/>
                </a:path>
              </a:pathLst>
            </a:custGeom>
            <a:solidFill>
              <a:srgbClr val="DB4137">
                <a:alpha val="12941"/>
              </a:srgbClr>
            </a:solidFill>
            <a:ln w="76200" cap="rnd">
              <a:solidFill>
                <a:srgbClr val="000000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53309" cy="507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7"/>
                </a:lnSpc>
              </a:pPr>
            </a:p>
          </p:txBody>
        </p:sp>
      </p:grpSp>
      <p:sp>
        <p:nvSpPr>
          <p:cNvPr name="TextBox 128" id="128"/>
          <p:cNvSpPr txBox="true"/>
          <p:nvPr/>
        </p:nvSpPr>
        <p:spPr>
          <a:xfrm rot="0">
            <a:off x="9454737" y="4683446"/>
            <a:ext cx="834152" cy="34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4A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R_BASE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034132" y="5053130"/>
            <a:ext cx="1842784" cy="2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b="true" sz="1604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For each Response: 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9119713" y="5325553"/>
            <a:ext cx="1671624" cy="48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b="true" sz="1427">
                <a:solidFill>
                  <a:srgbClr val="1800A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chart Type + Table  + Answer Accuracy</a:t>
            </a:r>
          </a:p>
        </p:txBody>
      </p:sp>
      <p:sp>
        <p:nvSpPr>
          <p:cNvPr name="AutoShape 131" id="131"/>
          <p:cNvSpPr/>
          <p:nvPr/>
        </p:nvSpPr>
        <p:spPr>
          <a:xfrm>
            <a:off x="8891257" y="4445717"/>
            <a:ext cx="1057954" cy="172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2" id="132"/>
          <p:cNvSpPr/>
          <p:nvPr/>
        </p:nvSpPr>
        <p:spPr>
          <a:xfrm>
            <a:off x="8891257" y="4119908"/>
            <a:ext cx="2337936" cy="385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3" id="133"/>
          <p:cNvSpPr/>
          <p:nvPr/>
        </p:nvSpPr>
        <p:spPr>
          <a:xfrm>
            <a:off x="12342731" y="6434309"/>
            <a:ext cx="259912" cy="21210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4" id="134"/>
          <p:cNvSpPr/>
          <p:nvPr/>
        </p:nvSpPr>
        <p:spPr>
          <a:xfrm>
            <a:off x="9949211" y="6291380"/>
            <a:ext cx="2295588" cy="23044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35" id="135"/>
          <p:cNvSpPr/>
          <p:nvPr/>
        </p:nvSpPr>
        <p:spPr>
          <a:xfrm flipH="false" flipV="false" rot="0">
            <a:off x="17617071" y="9526329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6" id="136"/>
          <p:cNvSpPr txBox="true"/>
          <p:nvPr/>
        </p:nvSpPr>
        <p:spPr>
          <a:xfrm rot="0">
            <a:off x="17802861" y="9544141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16</a:t>
            </a:r>
          </a:p>
        </p:txBody>
      </p:sp>
      <p:grpSp>
        <p:nvGrpSpPr>
          <p:cNvPr name="Group 137" id="137"/>
          <p:cNvGrpSpPr/>
          <p:nvPr/>
        </p:nvGrpSpPr>
        <p:grpSpPr>
          <a:xfrm rot="0">
            <a:off x="14171233" y="1777909"/>
            <a:ext cx="3330111" cy="593806"/>
            <a:chOff x="0" y="0"/>
            <a:chExt cx="573897" cy="10233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73897" cy="102334"/>
            </a:xfrm>
            <a:custGeom>
              <a:avLst/>
              <a:gdLst/>
              <a:ahLst/>
              <a:cxnLst/>
              <a:rect r="r" b="b" t="t" l="l"/>
              <a:pathLst>
                <a:path h="102334" w="573897">
                  <a:moveTo>
                    <a:pt x="6974" y="0"/>
                  </a:moveTo>
                  <a:lnTo>
                    <a:pt x="566923" y="0"/>
                  </a:lnTo>
                  <a:cubicBezTo>
                    <a:pt x="568772" y="0"/>
                    <a:pt x="570546" y="735"/>
                    <a:pt x="571854" y="2043"/>
                  </a:cubicBezTo>
                  <a:cubicBezTo>
                    <a:pt x="573162" y="3351"/>
                    <a:pt x="573897" y="5125"/>
                    <a:pt x="573897" y="6974"/>
                  </a:cubicBezTo>
                  <a:lnTo>
                    <a:pt x="573897" y="95360"/>
                  </a:lnTo>
                  <a:cubicBezTo>
                    <a:pt x="573897" y="99211"/>
                    <a:pt x="570775" y="102334"/>
                    <a:pt x="566923" y="102334"/>
                  </a:cubicBezTo>
                  <a:lnTo>
                    <a:pt x="6974" y="102334"/>
                  </a:lnTo>
                  <a:cubicBezTo>
                    <a:pt x="3123" y="102334"/>
                    <a:pt x="0" y="99211"/>
                    <a:pt x="0" y="95360"/>
                  </a:cubicBezTo>
                  <a:lnTo>
                    <a:pt x="0" y="6974"/>
                  </a:lnTo>
                  <a:cubicBezTo>
                    <a:pt x="0" y="3123"/>
                    <a:pt x="3123" y="0"/>
                    <a:pt x="6974" y="0"/>
                  </a:cubicBezTo>
                  <a:close/>
                </a:path>
              </a:pathLst>
            </a:custGeom>
            <a:solidFill>
              <a:srgbClr val="CB6CE6">
                <a:alpha val="84706"/>
              </a:srgbClr>
            </a:solidFill>
            <a:ln w="28575" cap="sq">
              <a:solidFill>
                <a:srgbClr val="E2A9F1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573897" cy="140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>
                      <a:alpha val="84706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Correct chart type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4150808" y="2554650"/>
            <a:ext cx="3330111" cy="593806"/>
            <a:chOff x="0" y="0"/>
            <a:chExt cx="573897" cy="10233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73897" cy="102334"/>
            </a:xfrm>
            <a:custGeom>
              <a:avLst/>
              <a:gdLst/>
              <a:ahLst/>
              <a:cxnLst/>
              <a:rect r="r" b="b" t="t" l="l"/>
              <a:pathLst>
                <a:path h="102334" w="573897">
                  <a:moveTo>
                    <a:pt x="6974" y="0"/>
                  </a:moveTo>
                  <a:lnTo>
                    <a:pt x="566923" y="0"/>
                  </a:lnTo>
                  <a:cubicBezTo>
                    <a:pt x="568772" y="0"/>
                    <a:pt x="570546" y="735"/>
                    <a:pt x="571854" y="2043"/>
                  </a:cubicBezTo>
                  <a:cubicBezTo>
                    <a:pt x="573162" y="3351"/>
                    <a:pt x="573897" y="5125"/>
                    <a:pt x="573897" y="6974"/>
                  </a:cubicBezTo>
                  <a:lnTo>
                    <a:pt x="573897" y="95360"/>
                  </a:lnTo>
                  <a:cubicBezTo>
                    <a:pt x="573897" y="99211"/>
                    <a:pt x="570775" y="102334"/>
                    <a:pt x="566923" y="102334"/>
                  </a:cubicBezTo>
                  <a:lnTo>
                    <a:pt x="6974" y="102334"/>
                  </a:lnTo>
                  <a:cubicBezTo>
                    <a:pt x="3123" y="102334"/>
                    <a:pt x="0" y="99211"/>
                    <a:pt x="0" y="95360"/>
                  </a:cubicBezTo>
                  <a:lnTo>
                    <a:pt x="0" y="6974"/>
                  </a:lnTo>
                  <a:cubicBezTo>
                    <a:pt x="0" y="3123"/>
                    <a:pt x="3123" y="0"/>
                    <a:pt x="6974" y="0"/>
                  </a:cubicBezTo>
                  <a:close/>
                </a:path>
              </a:pathLst>
            </a:custGeom>
            <a:solidFill>
              <a:srgbClr val="CB6CE6">
                <a:alpha val="84706"/>
              </a:srgbClr>
            </a:solidFill>
            <a:ln w="28575" cap="sq">
              <a:solidFill>
                <a:srgbClr val="E2A9F1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573897" cy="140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>
                      <a:alpha val="84706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Correct final answer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150808" y="3329431"/>
            <a:ext cx="3330111" cy="593806"/>
            <a:chOff x="0" y="0"/>
            <a:chExt cx="573897" cy="10233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73897" cy="102334"/>
            </a:xfrm>
            <a:custGeom>
              <a:avLst/>
              <a:gdLst/>
              <a:ahLst/>
              <a:cxnLst/>
              <a:rect r="r" b="b" t="t" l="l"/>
              <a:pathLst>
                <a:path h="102334" w="573897">
                  <a:moveTo>
                    <a:pt x="6974" y="0"/>
                  </a:moveTo>
                  <a:lnTo>
                    <a:pt x="566923" y="0"/>
                  </a:lnTo>
                  <a:cubicBezTo>
                    <a:pt x="568772" y="0"/>
                    <a:pt x="570546" y="735"/>
                    <a:pt x="571854" y="2043"/>
                  </a:cubicBezTo>
                  <a:cubicBezTo>
                    <a:pt x="573162" y="3351"/>
                    <a:pt x="573897" y="5125"/>
                    <a:pt x="573897" y="6974"/>
                  </a:cubicBezTo>
                  <a:lnTo>
                    <a:pt x="573897" y="95360"/>
                  </a:lnTo>
                  <a:cubicBezTo>
                    <a:pt x="573897" y="99211"/>
                    <a:pt x="570775" y="102334"/>
                    <a:pt x="566923" y="102334"/>
                  </a:cubicBezTo>
                  <a:lnTo>
                    <a:pt x="6974" y="102334"/>
                  </a:lnTo>
                  <a:cubicBezTo>
                    <a:pt x="3123" y="102334"/>
                    <a:pt x="0" y="99211"/>
                    <a:pt x="0" y="95360"/>
                  </a:cubicBezTo>
                  <a:lnTo>
                    <a:pt x="0" y="6974"/>
                  </a:lnTo>
                  <a:cubicBezTo>
                    <a:pt x="0" y="3123"/>
                    <a:pt x="3123" y="0"/>
                    <a:pt x="6974" y="0"/>
                  </a:cubicBezTo>
                  <a:close/>
                </a:path>
              </a:pathLst>
            </a:custGeom>
            <a:solidFill>
              <a:srgbClr val="CB6CE6">
                <a:alpha val="84706"/>
              </a:srgbClr>
            </a:solidFill>
            <a:ln w="28575" cap="sq">
              <a:solidFill>
                <a:srgbClr val="E2A9F1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573897" cy="140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>
                      <a:alpha val="84706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Table Accuracy ≥ 0.8</a:t>
              </a:r>
            </a:p>
          </p:txBody>
        </p:sp>
      </p:grpSp>
      <p:sp>
        <p:nvSpPr>
          <p:cNvPr name="TextBox 146" id="146"/>
          <p:cNvSpPr txBox="true"/>
          <p:nvPr/>
        </p:nvSpPr>
        <p:spPr>
          <a:xfrm rot="0">
            <a:off x="347318" y="149224"/>
            <a:ext cx="1591547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Methodology - Pipeline Diagram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048" y="2270721"/>
            <a:ext cx="14857237" cy="320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Qwen2.5-VL-3B-Instruct </a:t>
            </a:r>
          </a:p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Platforms Used: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and Local PC</a:t>
            </a:r>
          </a:p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NVIDIA RTX 3090 24GB VRAM (Local PC) 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463692" y="425449"/>
            <a:ext cx="6943407" cy="3975101"/>
          </a:xfrm>
          <a:custGeom>
            <a:avLst/>
            <a:gdLst/>
            <a:ahLst/>
            <a:cxnLst/>
            <a:rect r="r" b="b" t="t" l="l"/>
            <a:pathLst>
              <a:path h="3975101" w="6943407">
                <a:moveTo>
                  <a:pt x="0" y="0"/>
                </a:moveTo>
                <a:lnTo>
                  <a:pt x="6943407" y="0"/>
                </a:lnTo>
                <a:lnTo>
                  <a:pt x="6943407" y="3975101"/>
                </a:lnTo>
                <a:lnTo>
                  <a:pt x="0" y="3975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9048" y="330199"/>
            <a:ext cx="5103565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048" y="942975"/>
            <a:ext cx="215229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098" y="5076825"/>
            <a:ext cx="14857237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</a:t>
            </a: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</a:t>
            </a: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 Dataset — Chart-RVR GRPO Train [15]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d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ataset: 34,194 samples (ChartQA, PlotQA)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Subset used: 1,000 samples - random sampling 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29048" y="7035877"/>
            <a:ext cx="14857237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</a:t>
            </a: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Dataset —  Chart-RVR GRPO Test [15]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 Samples Evaluated — 500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Distribution: ChartQA, PlotQA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 of Distribution: ChartFC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508475" y="4631067"/>
            <a:ext cx="6898624" cy="5173968"/>
          </a:xfrm>
          <a:custGeom>
            <a:avLst/>
            <a:gdLst/>
            <a:ahLst/>
            <a:cxnLst/>
            <a:rect r="r" b="b" t="t" l="l"/>
            <a:pathLst>
              <a:path h="5173968" w="6898624">
                <a:moveTo>
                  <a:pt x="0" y="0"/>
                </a:moveTo>
                <a:lnTo>
                  <a:pt x="6898624" y="0"/>
                </a:lnTo>
                <a:lnTo>
                  <a:pt x="6898624" y="5173969"/>
                </a:lnTo>
                <a:lnTo>
                  <a:pt x="0" y="51739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961" y="3544383"/>
            <a:ext cx="4298599" cy="3745235"/>
          </a:xfrm>
          <a:custGeom>
            <a:avLst/>
            <a:gdLst/>
            <a:ahLst/>
            <a:cxnLst/>
            <a:rect r="r" b="b" t="t" l="l"/>
            <a:pathLst>
              <a:path h="3745235" w="4298599">
                <a:moveTo>
                  <a:pt x="0" y="0"/>
                </a:moveTo>
                <a:lnTo>
                  <a:pt x="4298599" y="0"/>
                </a:lnTo>
                <a:lnTo>
                  <a:pt x="4298599" y="3745235"/>
                </a:lnTo>
                <a:lnTo>
                  <a:pt x="0" y="3745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5478" y="87200"/>
            <a:ext cx="5103565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Setup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5478" y="719026"/>
            <a:ext cx="3326123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Samples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961" y="7398445"/>
            <a:ext cx="7694694" cy="134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  <a:spcBef>
                <a:spcPct val="0"/>
              </a:spcBef>
            </a:pPr>
            <a:r>
              <a:rPr lang="en-US" b="true" sz="25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</a:t>
            </a:r>
            <a:r>
              <a:rPr lang="en-US" b="true" sz="25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uery</a:t>
            </a:r>
          </a:p>
          <a:p>
            <a:pPr algn="l">
              <a:lnSpc>
                <a:spcPts val="3547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difference between 2017 and 2018 in the percentage of Japanese satisfaction with democracy is what percentage?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961" y="1581391"/>
            <a:ext cx="7694694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Prompt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given a chart image and a query about the chart.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step-by-step about how to answer the query based on the chart image and then provide the final answer...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555166" y="1410576"/>
            <a:ext cx="315503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&lt;type&gt; </a:t>
            </a: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Bar </a:t>
            </a: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&lt;/type&gt;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5166" y="2041901"/>
            <a:ext cx="6134695" cy="31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&lt;table&gt;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{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"columns": ["Year", "Percentage"],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"rows": [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["2017", "50"],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["2018", "40"] ]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}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&lt;/table&gt;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1241" y="5469631"/>
            <a:ext cx="8602712" cy="31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</a:t>
            </a: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think&gt;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&lt;step-1&gt;: The question asks for ... ... 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&lt;step-2&gt;: From the chart: 2017 = 50%, 2018 = 40%.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&lt;step-3&gt;: We need to calculate the difference.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&lt;step-4&gt;: The difference is 50% − 40% = 10%.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&lt;step-5&gt;: Values taken directly from chart. Verified.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&lt;/think&gt;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166" y="8897361"/>
            <a:ext cx="3681055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</a:t>
            </a: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answer&gt; </a:t>
            </a:r>
            <a:r>
              <a:rPr lang="en-US" b="true" sz="230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10 </a:t>
            </a:r>
            <a:r>
              <a:rPr lang="en-US" b="true" sz="2300">
                <a:solidFill>
                  <a:srgbClr val="004AA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&lt;/answer&gt;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961" y="9026434"/>
            <a:ext cx="254900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E74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Ground Truth : 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77249" y="630538"/>
            <a:ext cx="3326123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 Format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5507" y="330199"/>
            <a:ext cx="5103565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5507" y="952500"/>
            <a:ext cx="14857237" cy="53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Evaluation — Experiment 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19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2722552"/>
          <a:ext cx="16283630" cy="5388631"/>
        </p:xfrm>
        <a:graphic>
          <a:graphicData uri="http://schemas.openxmlformats.org/drawingml/2006/table">
            <a:tbl>
              <a:tblPr/>
              <a:tblGrid>
                <a:gridCol w="1616466"/>
                <a:gridCol w="4451421"/>
                <a:gridCol w="4180813"/>
                <a:gridCol w="6034930"/>
              </a:tblGrid>
              <a:tr h="6761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Exp. 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Experiment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Method(s)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3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Base model evaluation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Qwen2.5-VL-3B-Instruct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Establish zero-training baseline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9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Standard RLVR baseline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GRPO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Test whether flat verifiable rewards improve chart QA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9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Proposed HCPC reward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GRPO+HCPC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Test hierarchical correct-path consistency vs flat GRPO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0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Negative-only reinforcement baseline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NSR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Test whether text-only NSR transfers to VLM chart reasoning and compare with GRPO-HCPC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0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OOD fact-checking transfer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GRPO, GRPO+HCPC, NSR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Test distribution shift from ChartQA-style QA to chart fact-checking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5507" y="3201696"/>
          <a:ext cx="10635411" cy="3625584"/>
        </p:xfrm>
        <a:graphic>
          <a:graphicData uri="http://schemas.openxmlformats.org/drawingml/2006/table">
            <a:tbl>
              <a:tblPr/>
              <a:tblGrid>
                <a:gridCol w="3876851"/>
                <a:gridCol w="2190803"/>
                <a:gridCol w="2227022"/>
                <a:gridCol w="2340736"/>
              </a:tblGrid>
              <a:tr h="9827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Pass@1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Pass@2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Pass@4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6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 (no training)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59.45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74.33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84.46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6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GRPO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82.2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6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GRPO+HCPC</a:t>
                      </a: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(ours)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72.85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84.57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88.70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6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NSR</a:t>
                      </a: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(ours — first VLM)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73.4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83.72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88.00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8125" y="3051906"/>
            <a:ext cx="7015828" cy="4183187"/>
          </a:xfrm>
          <a:custGeom>
            <a:avLst/>
            <a:gdLst/>
            <a:ahLst/>
            <a:cxnLst/>
            <a:rect r="r" b="b" t="t" l="l"/>
            <a:pathLst>
              <a:path h="4183187" w="7015828">
                <a:moveTo>
                  <a:pt x="0" y="0"/>
                </a:moveTo>
                <a:lnTo>
                  <a:pt x="7015828" y="0"/>
                </a:lnTo>
                <a:lnTo>
                  <a:pt x="7015828" y="4183188"/>
                </a:lnTo>
                <a:lnTo>
                  <a:pt x="0" y="4183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507" y="330199"/>
            <a:ext cx="5103565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507" y="952500"/>
            <a:ext cx="17902493" cy="53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507" y="2379309"/>
            <a:ext cx="10103440" cy="10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Chart-RVR GRPO Test [15] (ChartQA, PlotQA, 500 samples)</a:t>
            </a:r>
          </a:p>
          <a:p>
            <a:pPr algn="l">
              <a:lnSpc>
                <a:spcPts val="399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85507" y="3781425"/>
          <a:ext cx="9532028" cy="2724150"/>
        </p:xfrm>
        <a:graphic>
          <a:graphicData uri="http://schemas.openxmlformats.org/drawingml/2006/table">
            <a:tbl>
              <a:tblPr/>
              <a:tblGrid>
                <a:gridCol w="2779377"/>
                <a:gridCol w="2261134"/>
                <a:gridCol w="2568652"/>
                <a:gridCol w="1922864"/>
              </a:tblGrid>
              <a:tr h="681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7"/>
                        </a:lnSpc>
                        <a:defRPr/>
                      </a:pPr>
                      <a:r>
                        <a:rPr lang="en-US" sz="249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7"/>
                        </a:lnSpc>
                        <a:defRPr/>
                      </a:pPr>
                      <a:r>
                        <a:rPr lang="en-US" sz="249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Pass@1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7"/>
                        </a:lnSpc>
                        <a:defRPr/>
                      </a:pPr>
                      <a:r>
                        <a:rPr lang="en-US" sz="249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Pass@2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7"/>
                        </a:lnSpc>
                        <a:defRPr/>
                      </a:pPr>
                      <a:r>
                        <a:rPr lang="en-US" sz="249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Pass@4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1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GRPO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62.45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79.9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81.8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1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GRPO+HCPC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61.22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80.1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83.14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10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7"/>
                        </a:lnSpc>
                        <a:defRPr/>
                      </a:pPr>
                      <a:r>
                        <a:rPr lang="en-US" sz="249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NSR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68.70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82.60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487"/>
                        </a:lnSpc>
                        <a:defRPr/>
                      </a:pPr>
                      <a:r>
                        <a:rPr lang="en-US" sz="249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92.40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0681066" y="3370790"/>
            <a:ext cx="7061886" cy="4210650"/>
          </a:xfrm>
          <a:custGeom>
            <a:avLst/>
            <a:gdLst/>
            <a:ahLst/>
            <a:cxnLst/>
            <a:rect r="r" b="b" t="t" l="l"/>
            <a:pathLst>
              <a:path h="4210650" w="7061886">
                <a:moveTo>
                  <a:pt x="0" y="0"/>
                </a:moveTo>
                <a:lnTo>
                  <a:pt x="7061887" y="0"/>
                </a:lnTo>
                <a:lnTo>
                  <a:pt x="7061887" y="4210650"/>
                </a:lnTo>
                <a:lnTo>
                  <a:pt x="0" y="4210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507" y="330199"/>
            <a:ext cx="5103565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507" y="952500"/>
            <a:ext cx="17902493" cy="53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507" y="3066625"/>
            <a:ext cx="17902493" cy="53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ChartFC - 500 Samples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048" y="330199"/>
            <a:ext cx="6730362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and Future Plan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350" y="2366962"/>
            <a:ext cx="17773650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HCPC (Hierarchical Correct-Path Consistency):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cross-rollout reward bonus that rewards consistent table extraction and diverse reasoning — conditioned on correctness of intermediate steps, not just final answers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NSR applied to VLMs for the first time: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 negative-only reinforcement [32] to vision-language models with noisy, multi-component rewards. Used here as a competitive baseline to test whether implicit diversity preservation (withholding gradients on correct rollouts) can match explicit diversity engineering (HCPC).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4529" y="1512887"/>
            <a:ext cx="258508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We Did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4529" y="5799999"/>
            <a:ext cx="17683471" cy="36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scale and recency —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Extending to larger parameter regimes (7B, 72B), Conducting experiments with K = 8.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Full training corpus —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Current results are based on a 1,000-sample subset of the 34,194-sample Chart-RVR dataset.</a:t>
            </a: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 CLC and NSR-HCPC Pipelines —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CLC reward and NSR-HCPC reward in pipeline to enhance reasoning robustness, consistency, and alignment with desired outputs.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Entropy-based reasoning diversity —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principled alternative is to directly regularize the entropy of the rollout distribution during training, enabling explicit, continuous control over diversity without dependence on surface-level textual overlap.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Out-of-distribution robustness —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domain-adaptive training strategies and evaluate across a broader range of chart distributions.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4872672"/>
            <a:ext cx="6241790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 &amp;Future Plans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5750" y="-95250"/>
            <a:ext cx="5103565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750" y="780162"/>
            <a:ext cx="17838203" cy="934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Ali, A., Baheti, A., Chang, J., Chi, T.-C., Cui, B., Drozdov, A., Frankle, J., Gupta, A., Koppol, P., Kulinski, S., Li, J., Misra, D., Opsahl-Ong, K., Ortiz, J. J. G., Zaharia, M., &amp; Zhang, Y. (2025). A state-of-the-art SQL reasoning model using RLVR. arXiv. https://arxiv.org/abs/2509.21459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Ke, Z., Jiao, F., Ming, Y., Nguyen, X.-P., Xu, A., Long, D. X., Li, M., Qin, C., Wang, P., Savarese, S., Xiong, C., &amp; Joty, S. (2025). A survey of frontiers in LLM reasoning: Inference scaling, learning to reason, and agentic systems. Transactions on Machine Learning Research. https://arxiv.org/abs/2504.09037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Masry, A., Puri, A., Hashemi, M., Rodriguez, J. A., Thakkar, M., Mahajan, K., Yadav, V., Madhusudhan, S. T., Piché, A., Bahdanau, D., Pal, C., Vazquez, D., Hoque, E., Taslakian, P., Rajeswar, S., &amp; Gella, S. (2025). BIGCHARTS-R1: Enhanced chart reasoning with visual reinforcement finetuning.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COLM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https://arxiv.org/abs/2508.09804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Odena, A., Lawson, D., &amp; Olah, C. (2017). Changing model behavior at test-time using reinforcement learning.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ICLR Workshop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https://arxiv.org/abs/1702.07780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Sinha, S., Frunza, O., Rasul, K., Nevmyvaka, Y., &amp; Zhang, A. (2025). Chart-RVR: Reinforcement learning with verifiable rewards for explainable chart reasoning. arXiv. https://arxiv.org/abs/2510.10973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Chen, L., Zhao, X., Zeng, Z., Huang, J., Zhong, Y., &amp; Ma, L. (2025). Chart-R1: Chain-of-thought supervision and reinforcement for advanced chart reasoner. arXiv. https://arxiv.org/abs/2507.15509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Carbune, V., Mansoor, H., Liu, F., Aralikatte, R., Baechler, G., Chen, J., &amp; Sharma, A. (2024). Chart-based reasoning: Transferring capabilities from LLMs to VLMs.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NAACL Findings.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https://aclanthology.org/2024.findings-naacl.62/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Kaur, R., Srishankar, N., Zeng, Z., Ganesh, S., &amp; Veloso, M. (2025). ChartAgent: A multimodal agent for visually grounded reasoning in complex chart question answering. arXiv. https://arxiv.org/abs/2510.04514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Goswami, K., Mathur, P., Rossi, R., &amp; Dernoncourt, F. (2025). ChartCitor: Answer citations for ChartQA via multi-agent LLM retrieval.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ACM Web Conference.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https://doi.org/10.1145/3701716.3716886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Masry, A., Thakkar, M., Bajaj, A., Kartha, A., Hoque, E., &amp; Joty, S. (2025). ChartGemma: Visual instruction-tuning for chart reasoning in the wild.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COLING Industry Track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https://arxiv.org/abs/2407.04172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Masry, A., Shahmohammadi, M., Parvez, M. R., Hoque, E., &amp; Joty, S. (2024). ChartInstruct: Instruction tuning for chart comprehension and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ACL Findings.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https://aclanthology.org/2024.findings-acl.619/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Xu, Z., Du, S., Qi, Y., Lu, S., Xu, C., Yuan, C., &amp; Guo, J. (2025). ChartPoint: Guiding MLLMs with grounding reflection for chart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ICCV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https://arxiv.org/abs/2512.00305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Hegde, S., Fazli, P., &amp; Seifi, H. (2026). ChartQA-X: Generating explanations for visual chart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WACV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https://arxiv.org/abs/2504.13275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Masry, A., Long, D. X., Tan, J. Q., Joty, S., &amp; Hoque, E. (2022). ChartQA: A benchmark for question answering about charts with visual and logical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ACL Findings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https://aclanthology.org/2022.findings-acl.177/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5750" y="-95250"/>
            <a:ext cx="5103565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79960" y="9588499"/>
            <a:ext cx="508040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84183" y="9376501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4" y="0"/>
                </a:lnTo>
                <a:lnTo>
                  <a:pt x="899594" y="857069"/>
                </a:lnTo>
                <a:lnTo>
                  <a:pt x="0" y="8570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43480" y="9490711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750" y="673734"/>
            <a:ext cx="18002250" cy="901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Xia, R., Zhang, B., Ye, H., Yan, X., Liu, Q., Zhou, H., Chen, Z., Dou, M., Shi, B., Yan, J., &amp; Qiao, Y. (2024). ChartX and ChartVLM: A versatile benchmark and foundation model for complicated chart reasoning.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IEEE Transactions on Image Processing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https://arxiv.org/abs/2402.12185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[16] Su, Y., Yu, D., Song, L., Li, J., Mi, H., Tu, Z., Zhang, M., &amp; Yu, D. (2025). Crossing the reward bridge: Expanding RL with verifiable rewards across diverse domains. arXiv. https://arxiv.org/abs/2503.23829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[17] Zhang, Y., Yang, J., Yuan, Y., &amp; Yao, A. C.-C. (2024). Cumulative reasoning with large language models. TMLR. https://arxiv.org/abs/2308.04371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[18] He, W., Xi, Z., Zhao, W., Fan, X., Ding, Y., Shan, Z., Gui, T., Zhang, Q., &amp; Huang, X. (2025). Distill visual chart reasoning ability from LLMs to MLLMs.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EMNLP Findings.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https://aclanthology.org/2025.findings-emnlp.172/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[19] Liu, J., He, C., Lin, Y., Yang, M., Shen, F., Liu, S., &amp; Gao, T. (2025). ETTRL: Balancing exploration and exploitation in LLM test-time RL via entropy mechanism. arXiv. https://arxiv.org/abs/2508.11356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[20] Su, Y., et al. (2025). Expanding RL with verifiable rewards across diverse domains. arXiv. https://arxiv.org/abs/2503.23829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[21] Köksal, A., &amp; Alatan, A. A. (2025). Few-shot vision-language reasoning for satellite imagery via verifiable rewards.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ICCV. 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https://arxiv.org/abs/2507.21745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[22] Teney, D., Liu, L., &amp; van den Hengel, A. (2017). Graph-structured representations for visual question answering.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CVPR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https://arxiv.org/abs/1609.05600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[23] Duan, W., Lu, J., &amp; Xuan, J. (2024). Group-aware coordination graph for multi-agent reinforcement learning.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IJCAI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https://doi.org/10.24963/ijcai.2024/434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[24] Zhang, R., et al. (2025). Improve vision-language model chain-of-thought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ACL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https://aclanthology.org/2025.acl-long.82/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[25] Lu, P., Gong, R., Jiang, S., Qiu, L., Huang, S., Liang, X., &amp; Zhu, S.-C. (2021). Inter-GPS: Interpretable geometry problem solving with formal language and symbolic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ACL-IJCNLP. 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https://aclanthology.org/2021.acl-long.528/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[26] Wen, X., et al. (2025). Reinforcement learning with verifiable rewards implicitly incentivizes correct reasoning in base LLMs. arXiv. https://arxiv.org/abs/2506.14245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[27] Zhang, Z., et al. (2025). RLVMR: Reinforcement learning with verifiable meta-reasoning rewards. arXiv. https://arxiv.org/abs/2507.22844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[28] Akhtar, M., Cocarascu, O., &amp; Simperl, E. (2023). Reading and reasoning over chart images for evidence-based fact-checking.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EACL Findings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https://aclanthology.org/2023.findings-eacl.30/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[29] Zhang, T., et al. (2023). TEMPERA: Test-time prompt editing via reinforcement learning.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ICLR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https://arxiv.org/abs/2211.11890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[30] Zuo, Y., et al. (2025). TTRL: Test-time reinforcement learning. arXiv. https://arxiv.org/abs/2504.16084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[31] Du, Y., et al. (2025). Test-time reinforcement learning for GUI grounding via region consistency. arXiv. https://arxiv.org/abs/2508.05615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[32] Zhu, X., et al. (2025). The surprising effectiveness of negative reinforcement in LLM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NeurIPS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https://arxiv.org/abs/2506.01347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[33] Huang, M., et al. (2025). VProChart: Answering chart question through visual perception alignment agent and programmatic reasoning. </a:t>
            </a:r>
            <a:r>
              <a:rPr lang="en-US" sz="18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AAAI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https://doi.org/10.1609/aaai.v39i4.32384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[34] Yu, X., et al. (2025). Visual document understanding and reasoning: A multi-agent collaboration framework with adaptive test-time scaling. arXiv. https://arxiv.org/abs/2508.03404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09921" y="4079238"/>
            <a:ext cx="3668157" cy="106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2055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09907" y="9805036"/>
            <a:ext cx="22707815" cy="4789285"/>
          </a:xfrm>
          <a:custGeom>
            <a:avLst/>
            <a:gdLst/>
            <a:ahLst/>
            <a:cxnLst/>
            <a:rect r="r" b="b" t="t" l="l"/>
            <a:pathLst>
              <a:path h="4789285" w="22707815">
                <a:moveTo>
                  <a:pt x="0" y="0"/>
                </a:moveTo>
                <a:lnTo>
                  <a:pt x="22707814" y="0"/>
                </a:lnTo>
                <a:lnTo>
                  <a:pt x="22707814" y="4789284"/>
                </a:lnTo>
                <a:lnTo>
                  <a:pt x="0" y="478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83655" y="9258300"/>
            <a:ext cx="899595" cy="857068"/>
          </a:xfrm>
          <a:custGeom>
            <a:avLst/>
            <a:gdLst/>
            <a:ahLst/>
            <a:cxnLst/>
            <a:rect r="r" b="b" t="t" l="l"/>
            <a:pathLst>
              <a:path h="857068" w="899595">
                <a:moveTo>
                  <a:pt x="0" y="0"/>
                </a:moveTo>
                <a:lnTo>
                  <a:pt x="899595" y="0"/>
                </a:lnTo>
                <a:lnTo>
                  <a:pt x="899595" y="857068"/>
                </a:lnTo>
                <a:lnTo>
                  <a:pt x="0" y="857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42953" y="9372509"/>
            <a:ext cx="381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DAHHrxrXcHo</dc:identifier>
  <dcterms:modified xsi:type="dcterms:W3CDTF">2011-08-01T06:04:30Z</dcterms:modified>
  <cp:revision>1</cp:revision>
  <dc:title>Main Copy of Final Copy of SSL predefense </dc:title>
</cp:coreProperties>
</file>